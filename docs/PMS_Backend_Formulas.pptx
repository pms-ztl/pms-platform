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371600" y="1371600"/>
            <a:ext cx="9144000" cy="914400"/>
          </a:xfrm>
          <a:prstGeom prst="rect">
            <a:avLst/>
          </a:prstGeom>
          <a:noFill/>
        </p:spPr>
        <p:txBody>
          <a:bodyPr wrap="square">
            <a:spAutoFit/>
          </a:bodyPr>
          <a:lstStyle/>
          <a:p>
            <a:pPr algn="ctr"/>
            <a:r>
              <a:rPr sz="4400" b="1">
                <a:solidFill>
                  <a:srgbClr val="6D28D9"/>
                </a:solidFill>
                <a:latin typeface="Calibri"/>
              </a:rPr>
              <a:t>PMS Platform</a:t>
            </a:r>
          </a:p>
        </p:txBody>
      </p:sp>
      <p:sp>
        <p:nvSpPr>
          <p:cNvPr id="3" name="TextBox 2"/>
          <p:cNvSpPr txBox="1"/>
          <p:nvPr/>
        </p:nvSpPr>
        <p:spPr>
          <a:xfrm>
            <a:off x="1371600" y="2377440"/>
            <a:ext cx="9144000" cy="731520"/>
          </a:xfrm>
          <a:prstGeom prst="rect">
            <a:avLst/>
          </a:prstGeom>
          <a:noFill/>
        </p:spPr>
        <p:txBody>
          <a:bodyPr wrap="square">
            <a:spAutoFit/>
          </a:bodyPr>
          <a:lstStyle/>
          <a:p>
            <a:pPr algn="ctr"/>
            <a:r>
              <a:rPr sz="3200" b="1">
                <a:solidFill>
                  <a:srgbClr val="FFFFFF"/>
                </a:solidFill>
                <a:latin typeface="Calibri"/>
              </a:rPr>
              <a:t>Backend Mathematical Engine</a:t>
            </a:r>
          </a:p>
        </p:txBody>
      </p:sp>
      <p:sp>
        <p:nvSpPr>
          <p:cNvPr id="4" name="TextBox 3"/>
          <p:cNvSpPr txBox="1"/>
          <p:nvPr/>
        </p:nvSpPr>
        <p:spPr>
          <a:xfrm>
            <a:off x="1371600" y="3291840"/>
            <a:ext cx="9144000" cy="548640"/>
          </a:xfrm>
          <a:prstGeom prst="rect">
            <a:avLst/>
          </a:prstGeom>
          <a:noFill/>
        </p:spPr>
        <p:txBody>
          <a:bodyPr wrap="square">
            <a:spAutoFit/>
          </a:bodyPr>
          <a:lstStyle/>
          <a:p>
            <a:pPr algn="ctr"/>
            <a:r>
              <a:rPr sz="1600" b="0">
                <a:solidFill>
                  <a:srgbClr val="94A3B8"/>
                </a:solidFill>
                <a:latin typeface="Calibri"/>
              </a:rPr>
              <a:t>17 Core Formulas  +  6 Composite Systems  +  CPIS 8-Dimension Scoring</a:t>
            </a:r>
          </a:p>
        </p:txBody>
      </p:sp>
      <p:sp>
        <p:nvSpPr>
          <p:cNvPr id="5" name="TextBox 4"/>
          <p:cNvSpPr txBox="1"/>
          <p:nvPr/>
        </p:nvSpPr>
        <p:spPr>
          <a:xfrm>
            <a:off x="1371600" y="5029200"/>
            <a:ext cx="9144000" cy="457200"/>
          </a:xfrm>
          <a:prstGeom prst="rect">
            <a:avLst/>
          </a:prstGeom>
          <a:noFill/>
        </p:spPr>
        <p:txBody>
          <a:bodyPr wrap="square">
            <a:spAutoFit/>
          </a:bodyPr>
          <a:lstStyle/>
          <a:p>
            <a:pPr algn="ctr"/>
            <a:r>
              <a:rPr sz="1800" b="1">
                <a:solidFill>
                  <a:srgbClr val="14B8A6"/>
                </a:solidFill>
                <a:latin typeface="Calibri"/>
              </a:rPr>
              <a:t>How Every Number in the System is Calculated</a:t>
            </a:r>
          </a:p>
        </p:txBody>
      </p:sp>
      <p:sp>
        <p:nvSpPr>
          <p:cNvPr id="6" name="TextBox 5"/>
          <p:cNvSpPr txBox="1"/>
          <p:nvPr/>
        </p:nvSpPr>
        <p:spPr>
          <a:xfrm>
            <a:off x="1371600" y="5943600"/>
            <a:ext cx="9144000" cy="365760"/>
          </a:xfrm>
          <a:prstGeom prst="rect">
            <a:avLst/>
          </a:prstGeom>
          <a:noFill/>
        </p:spPr>
        <p:txBody>
          <a:bodyPr wrap="square">
            <a:spAutoFit/>
          </a:bodyPr>
          <a:lstStyle/>
          <a:p>
            <a:pPr algn="ctr"/>
            <a:r>
              <a:rPr sz="1200" b="0">
                <a:solidFill>
                  <a:srgbClr val="94A3B8"/>
                </a:solidFill>
                <a:latin typeface="Calibri"/>
              </a:rPr>
              <a:t>Confidential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10972800" cy="640080"/>
          </a:xfrm>
          <a:prstGeom prst="rect">
            <a:avLst/>
          </a:prstGeom>
          <a:noFill/>
        </p:spPr>
        <p:txBody>
          <a:bodyPr wrap="square">
            <a:spAutoFit/>
          </a:bodyPr>
          <a:lstStyle/>
          <a:p>
            <a:pPr algn="l"/>
            <a:r>
              <a:rPr sz="2800" b="1">
                <a:solidFill>
                  <a:srgbClr val="6D28D9"/>
                </a:solidFill>
                <a:latin typeface="Calibri"/>
              </a:rPr>
              <a:t>Formula Architecture Overview</a:t>
            </a:r>
          </a:p>
        </p:txBody>
      </p:sp>
      <p:sp>
        <p:nvSpPr>
          <p:cNvPr id="3" name="Rectangle 2"/>
          <p:cNvSpPr/>
          <p:nvPr/>
        </p:nvSpPr>
        <p:spPr>
          <a:xfrm>
            <a:off x="548640" y="1097280"/>
            <a:ext cx="3474720" cy="530352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3108960" cy="457200"/>
          </a:xfrm>
          <a:prstGeom prst="rect">
            <a:avLst/>
          </a:prstGeom>
          <a:noFill/>
        </p:spPr>
        <p:txBody>
          <a:bodyPr wrap="square">
            <a:spAutoFit/>
          </a:bodyPr>
          <a:lstStyle/>
          <a:p>
            <a:pPr algn="l"/>
            <a:r>
              <a:rPr sz="1600" b="1">
                <a:solidFill>
                  <a:srgbClr val="14B8A6"/>
                </a:solidFill>
                <a:latin typeface="Calibri"/>
              </a:rPr>
              <a:t>LAYER 1: Core Statistical (17)</a:t>
            </a:r>
          </a:p>
        </p:txBody>
      </p:sp>
      <p:sp>
        <p:nvSpPr>
          <p:cNvPr id="5" name="TextBox 4"/>
          <p:cNvSpPr txBox="1"/>
          <p:nvPr/>
        </p:nvSpPr>
        <p:spPr>
          <a:xfrm>
            <a:off x="914400" y="1691640"/>
            <a:ext cx="2926080" cy="274320"/>
          </a:xfrm>
          <a:prstGeom prst="rect">
            <a:avLst/>
          </a:prstGeom>
          <a:noFill/>
        </p:spPr>
        <p:txBody>
          <a:bodyPr wrap="square">
            <a:spAutoFit/>
          </a:bodyPr>
          <a:lstStyle/>
          <a:p>
            <a:pPr algn="l"/>
            <a:r>
              <a:rPr sz="1050" b="0">
                <a:solidFill>
                  <a:srgbClr val="E2E8F0"/>
                </a:solidFill>
                <a:latin typeface="Calibri"/>
              </a:rPr>
              <a:t>1. Clamp Percentage</a:t>
            </a:r>
          </a:p>
        </p:txBody>
      </p:sp>
      <p:sp>
        <p:nvSpPr>
          <p:cNvPr id="6" name="TextBox 5"/>
          <p:cNvSpPr txBox="1"/>
          <p:nvPr/>
        </p:nvSpPr>
        <p:spPr>
          <a:xfrm>
            <a:off x="914400" y="1911095"/>
            <a:ext cx="2926080" cy="274320"/>
          </a:xfrm>
          <a:prstGeom prst="rect">
            <a:avLst/>
          </a:prstGeom>
          <a:noFill/>
        </p:spPr>
        <p:txBody>
          <a:bodyPr wrap="square">
            <a:spAutoFit/>
          </a:bodyPr>
          <a:lstStyle/>
          <a:p>
            <a:pPr algn="l"/>
            <a:r>
              <a:rPr sz="1050" b="0">
                <a:solidFill>
                  <a:srgbClr val="E2E8F0"/>
                </a:solidFill>
                <a:latin typeface="Calibri"/>
              </a:rPr>
              <a:t>2. Arithmetic Mean</a:t>
            </a:r>
          </a:p>
        </p:txBody>
      </p:sp>
      <p:sp>
        <p:nvSpPr>
          <p:cNvPr id="7" name="TextBox 6"/>
          <p:cNvSpPr txBox="1"/>
          <p:nvPr/>
        </p:nvSpPr>
        <p:spPr>
          <a:xfrm>
            <a:off x="914400" y="2130552"/>
            <a:ext cx="2926080" cy="274320"/>
          </a:xfrm>
          <a:prstGeom prst="rect">
            <a:avLst/>
          </a:prstGeom>
          <a:noFill/>
        </p:spPr>
        <p:txBody>
          <a:bodyPr wrap="square">
            <a:spAutoFit/>
          </a:bodyPr>
          <a:lstStyle/>
          <a:p>
            <a:pPr algn="l"/>
            <a:r>
              <a:rPr sz="1050" b="0">
                <a:solidFill>
                  <a:srgbClr val="E2E8F0"/>
                </a:solidFill>
                <a:latin typeface="Calibri"/>
              </a:rPr>
              <a:t>3. Weighted Mean</a:t>
            </a:r>
          </a:p>
        </p:txBody>
      </p:sp>
      <p:sp>
        <p:nvSpPr>
          <p:cNvPr id="8" name="TextBox 7"/>
          <p:cNvSpPr txBox="1"/>
          <p:nvPr/>
        </p:nvSpPr>
        <p:spPr>
          <a:xfrm>
            <a:off x="914400" y="2350008"/>
            <a:ext cx="2926080" cy="274320"/>
          </a:xfrm>
          <a:prstGeom prst="rect">
            <a:avLst/>
          </a:prstGeom>
          <a:noFill/>
        </p:spPr>
        <p:txBody>
          <a:bodyPr wrap="square">
            <a:spAutoFit/>
          </a:bodyPr>
          <a:lstStyle/>
          <a:p>
            <a:pPr algn="l"/>
            <a:r>
              <a:rPr sz="1050" b="0">
                <a:solidFill>
                  <a:srgbClr val="E2E8F0"/>
                </a:solidFill>
                <a:latin typeface="Calibri"/>
              </a:rPr>
              <a:t>4. Weighted Harmonic Mean</a:t>
            </a:r>
          </a:p>
        </p:txBody>
      </p:sp>
      <p:sp>
        <p:nvSpPr>
          <p:cNvPr id="9" name="TextBox 8"/>
          <p:cNvSpPr txBox="1"/>
          <p:nvPr/>
        </p:nvSpPr>
        <p:spPr>
          <a:xfrm>
            <a:off x="914400" y="2569464"/>
            <a:ext cx="2926080" cy="274320"/>
          </a:xfrm>
          <a:prstGeom prst="rect">
            <a:avLst/>
          </a:prstGeom>
          <a:noFill/>
        </p:spPr>
        <p:txBody>
          <a:bodyPr wrap="square">
            <a:spAutoFit/>
          </a:bodyPr>
          <a:lstStyle/>
          <a:p>
            <a:pPr algn="l"/>
            <a:r>
              <a:rPr sz="1050" b="0">
                <a:solidFill>
                  <a:srgbClr val="E2E8F0"/>
                </a:solidFill>
                <a:latin typeface="Calibri"/>
              </a:rPr>
              <a:t>5. Variance &amp; Std Deviation</a:t>
            </a:r>
          </a:p>
        </p:txBody>
      </p:sp>
      <p:sp>
        <p:nvSpPr>
          <p:cNvPr id="10" name="TextBox 9"/>
          <p:cNvSpPr txBox="1"/>
          <p:nvPr/>
        </p:nvSpPr>
        <p:spPr>
          <a:xfrm>
            <a:off x="914400" y="2788920"/>
            <a:ext cx="2926080" cy="274320"/>
          </a:xfrm>
          <a:prstGeom prst="rect">
            <a:avLst/>
          </a:prstGeom>
          <a:noFill/>
        </p:spPr>
        <p:txBody>
          <a:bodyPr wrap="square">
            <a:spAutoFit/>
          </a:bodyPr>
          <a:lstStyle/>
          <a:p>
            <a:pPr algn="l"/>
            <a:r>
              <a:rPr sz="1050" b="0">
                <a:solidFill>
                  <a:srgbClr val="E2E8F0"/>
                </a:solidFill>
                <a:latin typeface="Calibri"/>
              </a:rPr>
              <a:t>6. Sample Std Dev (Bessel)</a:t>
            </a:r>
          </a:p>
        </p:txBody>
      </p:sp>
      <p:sp>
        <p:nvSpPr>
          <p:cNvPr id="11" name="TextBox 10"/>
          <p:cNvSpPr txBox="1"/>
          <p:nvPr/>
        </p:nvSpPr>
        <p:spPr>
          <a:xfrm>
            <a:off x="914400" y="3008376"/>
            <a:ext cx="2926080" cy="274320"/>
          </a:xfrm>
          <a:prstGeom prst="rect">
            <a:avLst/>
          </a:prstGeom>
          <a:noFill/>
        </p:spPr>
        <p:txBody>
          <a:bodyPr wrap="square">
            <a:spAutoFit/>
          </a:bodyPr>
          <a:lstStyle/>
          <a:p>
            <a:pPr algn="l"/>
            <a:r>
              <a:rPr sz="1050" b="0">
                <a:solidFill>
                  <a:srgbClr val="E2E8F0"/>
                </a:solidFill>
                <a:latin typeface="Calibri"/>
              </a:rPr>
              <a:t>7. Z-Score Normalization</a:t>
            </a:r>
          </a:p>
        </p:txBody>
      </p:sp>
      <p:sp>
        <p:nvSpPr>
          <p:cNvPr id="12" name="TextBox 11"/>
          <p:cNvSpPr txBox="1"/>
          <p:nvPr/>
        </p:nvSpPr>
        <p:spPr>
          <a:xfrm>
            <a:off x="914400" y="3227832"/>
            <a:ext cx="2926080" cy="274320"/>
          </a:xfrm>
          <a:prstGeom prst="rect">
            <a:avLst/>
          </a:prstGeom>
          <a:noFill/>
        </p:spPr>
        <p:txBody>
          <a:bodyPr wrap="square">
            <a:spAutoFit/>
          </a:bodyPr>
          <a:lstStyle/>
          <a:p>
            <a:pPr algn="l"/>
            <a:r>
              <a:rPr sz="1050" b="0">
                <a:solidFill>
                  <a:srgbClr val="E2E8F0"/>
                </a:solidFill>
                <a:latin typeface="Calibri"/>
              </a:rPr>
              <a:t>8. Sigmoid Function</a:t>
            </a:r>
          </a:p>
        </p:txBody>
      </p:sp>
      <p:sp>
        <p:nvSpPr>
          <p:cNvPr id="13" name="TextBox 12"/>
          <p:cNvSpPr txBox="1"/>
          <p:nvPr/>
        </p:nvSpPr>
        <p:spPr>
          <a:xfrm>
            <a:off x="914400" y="3447288"/>
            <a:ext cx="2926080" cy="274320"/>
          </a:xfrm>
          <a:prstGeom prst="rect">
            <a:avLst/>
          </a:prstGeom>
          <a:noFill/>
        </p:spPr>
        <p:txBody>
          <a:bodyPr wrap="square">
            <a:spAutoFit/>
          </a:bodyPr>
          <a:lstStyle/>
          <a:p>
            <a:pPr algn="l"/>
            <a:r>
              <a:rPr sz="1050" b="0">
                <a:solidFill>
                  <a:srgbClr val="E2E8F0"/>
                </a:solidFill>
                <a:latin typeface="Calibri"/>
              </a:rPr>
              <a:t>9. Bounded Sigmoid</a:t>
            </a:r>
          </a:p>
        </p:txBody>
      </p:sp>
      <p:sp>
        <p:nvSpPr>
          <p:cNvPr id="14" name="TextBox 13"/>
          <p:cNvSpPr txBox="1"/>
          <p:nvPr/>
        </p:nvSpPr>
        <p:spPr>
          <a:xfrm>
            <a:off x="914400" y="3666744"/>
            <a:ext cx="2926080" cy="274320"/>
          </a:xfrm>
          <a:prstGeom prst="rect">
            <a:avLst/>
          </a:prstGeom>
          <a:noFill/>
        </p:spPr>
        <p:txBody>
          <a:bodyPr wrap="square">
            <a:spAutoFit/>
          </a:bodyPr>
          <a:lstStyle/>
          <a:p>
            <a:pPr algn="l"/>
            <a:r>
              <a:rPr sz="1050" b="0">
                <a:solidFill>
                  <a:srgbClr val="E2E8F0"/>
                </a:solidFill>
                <a:latin typeface="Calibri"/>
              </a:rPr>
              <a:t>10. Pearson Correlation</a:t>
            </a:r>
          </a:p>
        </p:txBody>
      </p:sp>
      <p:sp>
        <p:nvSpPr>
          <p:cNvPr id="15" name="TextBox 14"/>
          <p:cNvSpPr txBox="1"/>
          <p:nvPr/>
        </p:nvSpPr>
        <p:spPr>
          <a:xfrm>
            <a:off x="914400" y="3886200"/>
            <a:ext cx="2926080" cy="274320"/>
          </a:xfrm>
          <a:prstGeom prst="rect">
            <a:avLst/>
          </a:prstGeom>
          <a:noFill/>
        </p:spPr>
        <p:txBody>
          <a:bodyPr wrap="square">
            <a:spAutoFit/>
          </a:bodyPr>
          <a:lstStyle/>
          <a:p>
            <a:pPr algn="l"/>
            <a:r>
              <a:rPr sz="1050" b="0">
                <a:solidFill>
                  <a:srgbClr val="E2E8F0"/>
                </a:solidFill>
                <a:latin typeface="Calibri"/>
              </a:rPr>
              <a:t>11. Linear Regression</a:t>
            </a:r>
          </a:p>
        </p:txBody>
      </p:sp>
      <p:sp>
        <p:nvSpPr>
          <p:cNvPr id="16" name="TextBox 15"/>
          <p:cNvSpPr txBox="1"/>
          <p:nvPr/>
        </p:nvSpPr>
        <p:spPr>
          <a:xfrm>
            <a:off x="914400" y="4105656"/>
            <a:ext cx="2926080" cy="274320"/>
          </a:xfrm>
          <a:prstGeom prst="rect">
            <a:avLst/>
          </a:prstGeom>
          <a:noFill/>
        </p:spPr>
        <p:txBody>
          <a:bodyPr wrap="square">
            <a:spAutoFit/>
          </a:bodyPr>
          <a:lstStyle/>
          <a:p>
            <a:pPr algn="l"/>
            <a:r>
              <a:rPr sz="1050" b="0">
                <a:solidFill>
                  <a:srgbClr val="E2E8F0"/>
                </a:solidFill>
                <a:latin typeface="Calibri"/>
              </a:rPr>
              <a:t>12. EWMA (Exp. Smoothing)</a:t>
            </a:r>
          </a:p>
        </p:txBody>
      </p:sp>
      <p:sp>
        <p:nvSpPr>
          <p:cNvPr id="17" name="TextBox 16"/>
          <p:cNvSpPr txBox="1"/>
          <p:nvPr/>
        </p:nvSpPr>
        <p:spPr>
          <a:xfrm>
            <a:off x="914400" y="4325112"/>
            <a:ext cx="2926080" cy="274320"/>
          </a:xfrm>
          <a:prstGeom prst="rect">
            <a:avLst/>
          </a:prstGeom>
          <a:noFill/>
        </p:spPr>
        <p:txBody>
          <a:bodyPr wrap="square">
            <a:spAutoFit/>
          </a:bodyPr>
          <a:lstStyle/>
          <a:p>
            <a:pPr algn="l"/>
            <a:r>
              <a:rPr sz="1050" b="0">
                <a:solidFill>
                  <a:srgbClr val="E2E8F0"/>
                </a:solidFill>
                <a:latin typeface="Calibri"/>
              </a:rPr>
              <a:t>13. Shannon Entropy</a:t>
            </a:r>
          </a:p>
        </p:txBody>
      </p:sp>
      <p:sp>
        <p:nvSpPr>
          <p:cNvPr id="18" name="TextBox 17"/>
          <p:cNvSpPr txBox="1"/>
          <p:nvPr/>
        </p:nvSpPr>
        <p:spPr>
          <a:xfrm>
            <a:off x="914400" y="4544568"/>
            <a:ext cx="2926080" cy="274320"/>
          </a:xfrm>
          <a:prstGeom prst="rect">
            <a:avLst/>
          </a:prstGeom>
          <a:noFill/>
        </p:spPr>
        <p:txBody>
          <a:bodyPr wrap="square">
            <a:spAutoFit/>
          </a:bodyPr>
          <a:lstStyle/>
          <a:p>
            <a:pPr algn="l"/>
            <a:r>
              <a:rPr sz="1050" b="0">
                <a:solidFill>
                  <a:srgbClr val="E2E8F0"/>
                </a:solidFill>
                <a:latin typeface="Calibri"/>
              </a:rPr>
              <a:t>14. Percentile Rank</a:t>
            </a:r>
          </a:p>
        </p:txBody>
      </p:sp>
      <p:sp>
        <p:nvSpPr>
          <p:cNvPr id="19" name="TextBox 18"/>
          <p:cNvSpPr txBox="1"/>
          <p:nvPr/>
        </p:nvSpPr>
        <p:spPr>
          <a:xfrm>
            <a:off x="914400" y="4764024"/>
            <a:ext cx="2926080" cy="274320"/>
          </a:xfrm>
          <a:prstGeom prst="rect">
            <a:avLst/>
          </a:prstGeom>
          <a:noFill/>
        </p:spPr>
        <p:txBody>
          <a:bodyPr wrap="square">
            <a:spAutoFit/>
          </a:bodyPr>
          <a:lstStyle/>
          <a:p>
            <a:pPr algn="l"/>
            <a:r>
              <a:rPr sz="1050" b="0">
                <a:solidFill>
                  <a:srgbClr val="E2E8F0"/>
                </a:solidFill>
                <a:latin typeface="Calibri"/>
              </a:rPr>
              <a:t>15. Bayesian Estimation</a:t>
            </a:r>
          </a:p>
        </p:txBody>
      </p:sp>
      <p:sp>
        <p:nvSpPr>
          <p:cNvPr id="20" name="TextBox 19"/>
          <p:cNvSpPr txBox="1"/>
          <p:nvPr/>
        </p:nvSpPr>
        <p:spPr>
          <a:xfrm>
            <a:off x="914400" y="4983479"/>
            <a:ext cx="2926080" cy="274320"/>
          </a:xfrm>
          <a:prstGeom prst="rect">
            <a:avLst/>
          </a:prstGeom>
          <a:noFill/>
        </p:spPr>
        <p:txBody>
          <a:bodyPr wrap="square">
            <a:spAutoFit/>
          </a:bodyPr>
          <a:lstStyle/>
          <a:p>
            <a:pPr algn="l"/>
            <a:r>
              <a:rPr sz="1050" b="0">
                <a:solidFill>
                  <a:srgbClr val="E2E8F0"/>
                </a:solidFill>
                <a:latin typeface="Calibri"/>
              </a:rPr>
              <a:t>16. Gini Coefficient</a:t>
            </a:r>
          </a:p>
        </p:txBody>
      </p:sp>
      <p:sp>
        <p:nvSpPr>
          <p:cNvPr id="21" name="Rectangle 20"/>
          <p:cNvSpPr/>
          <p:nvPr/>
        </p:nvSpPr>
        <p:spPr>
          <a:xfrm>
            <a:off x="4297680" y="1097280"/>
            <a:ext cx="3474720" cy="530352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1188720"/>
            <a:ext cx="3108960" cy="457200"/>
          </a:xfrm>
          <a:prstGeom prst="rect">
            <a:avLst/>
          </a:prstGeom>
          <a:noFill/>
        </p:spPr>
        <p:txBody>
          <a:bodyPr wrap="square">
            <a:spAutoFit/>
          </a:bodyPr>
          <a:lstStyle/>
          <a:p>
            <a:pPr algn="l"/>
            <a:r>
              <a:rPr sz="1600" b="1">
                <a:solidFill>
                  <a:srgbClr val="F59E0B"/>
                </a:solidFill>
                <a:latin typeface="Calibri"/>
              </a:rPr>
              <a:t>LAYER 2: Composite Systems (6)</a:t>
            </a:r>
          </a:p>
        </p:txBody>
      </p:sp>
      <p:sp>
        <p:nvSpPr>
          <p:cNvPr id="23" name="TextBox 22"/>
          <p:cNvSpPr txBox="1"/>
          <p:nvPr/>
        </p:nvSpPr>
        <p:spPr>
          <a:xfrm>
            <a:off x="4572000" y="1737360"/>
            <a:ext cx="3108960" cy="274320"/>
          </a:xfrm>
          <a:prstGeom prst="rect">
            <a:avLst/>
          </a:prstGeom>
          <a:noFill/>
        </p:spPr>
        <p:txBody>
          <a:bodyPr wrap="square">
            <a:spAutoFit/>
          </a:bodyPr>
          <a:lstStyle/>
          <a:p>
            <a:pPr algn="l"/>
            <a:r>
              <a:rPr sz="1300" b="1">
                <a:solidFill>
                  <a:srgbClr val="FFFFFF"/>
                </a:solidFill>
                <a:latin typeface="Calibri"/>
              </a:rPr>
              <a:t>Goal Score</a:t>
            </a:r>
          </a:p>
        </p:txBody>
      </p:sp>
      <p:sp>
        <p:nvSpPr>
          <p:cNvPr id="24" name="TextBox 23"/>
          <p:cNvSpPr txBox="1"/>
          <p:nvPr/>
        </p:nvSpPr>
        <p:spPr>
          <a:xfrm>
            <a:off x="4572000" y="1965960"/>
            <a:ext cx="3108960" cy="274320"/>
          </a:xfrm>
          <a:prstGeom prst="rect">
            <a:avLst/>
          </a:prstGeom>
          <a:noFill/>
        </p:spPr>
        <p:txBody>
          <a:bodyPr wrap="square">
            <a:spAutoFit/>
          </a:bodyPr>
          <a:lstStyle/>
          <a:p>
            <a:pPr algn="l"/>
            <a:r>
              <a:rPr sz="1000" b="0">
                <a:solidFill>
                  <a:srgbClr val="94A3B8"/>
                </a:solidFill>
                <a:latin typeface="Calibri"/>
              </a:rPr>
              <a:t>Completion + Quality + Timeliness + Efficiency</a:t>
            </a:r>
          </a:p>
        </p:txBody>
      </p:sp>
      <p:sp>
        <p:nvSpPr>
          <p:cNvPr id="25" name="TextBox 24"/>
          <p:cNvSpPr txBox="1"/>
          <p:nvPr/>
        </p:nvSpPr>
        <p:spPr>
          <a:xfrm>
            <a:off x="4572000" y="2377439"/>
            <a:ext cx="3108960" cy="274320"/>
          </a:xfrm>
          <a:prstGeom prst="rect">
            <a:avLst/>
          </a:prstGeom>
          <a:noFill/>
        </p:spPr>
        <p:txBody>
          <a:bodyPr wrap="square">
            <a:spAutoFit/>
          </a:bodyPr>
          <a:lstStyle/>
          <a:p>
            <a:pPr algn="l"/>
            <a:r>
              <a:rPr sz="1300" b="1">
                <a:solidFill>
                  <a:srgbClr val="FFFFFF"/>
                </a:solidFill>
                <a:latin typeface="Calibri"/>
              </a:rPr>
              <a:t>Performance Score</a:t>
            </a:r>
          </a:p>
        </p:txBody>
      </p:sp>
      <p:sp>
        <p:nvSpPr>
          <p:cNvPr id="26" name="TextBox 25"/>
          <p:cNvSpPr txBox="1"/>
          <p:nvPr/>
        </p:nvSpPr>
        <p:spPr>
          <a:xfrm>
            <a:off x="4572000" y="2606039"/>
            <a:ext cx="3108960" cy="274320"/>
          </a:xfrm>
          <a:prstGeom prst="rect">
            <a:avLst/>
          </a:prstGeom>
          <a:noFill/>
        </p:spPr>
        <p:txBody>
          <a:bodyPr wrap="square">
            <a:spAutoFit/>
          </a:bodyPr>
          <a:lstStyle/>
          <a:p>
            <a:pPr algn="l"/>
            <a:r>
              <a:rPr sz="1000" b="0">
                <a:solidFill>
                  <a:srgbClr val="94A3B8"/>
                </a:solidFill>
                <a:latin typeface="Calibri"/>
              </a:rPr>
              <a:t>Goals + Reviews + Feedback + Attendance + Collab</a:t>
            </a:r>
          </a:p>
        </p:txBody>
      </p:sp>
      <p:sp>
        <p:nvSpPr>
          <p:cNvPr id="27" name="TextBox 26"/>
          <p:cNvSpPr txBox="1"/>
          <p:nvPr/>
        </p:nvSpPr>
        <p:spPr>
          <a:xfrm>
            <a:off x="4572000" y="3017520"/>
            <a:ext cx="3108960" cy="274320"/>
          </a:xfrm>
          <a:prstGeom prst="rect">
            <a:avLst/>
          </a:prstGeom>
          <a:noFill/>
        </p:spPr>
        <p:txBody>
          <a:bodyPr wrap="square">
            <a:spAutoFit/>
          </a:bodyPr>
          <a:lstStyle/>
          <a:p>
            <a:pPr algn="l"/>
            <a:r>
              <a:rPr sz="1300" b="1">
                <a:solidFill>
                  <a:srgbClr val="FFFFFF"/>
                </a:solidFill>
                <a:latin typeface="Calibri"/>
              </a:rPr>
              <a:t>Team Analytics</a:t>
            </a:r>
          </a:p>
        </p:txBody>
      </p:sp>
      <p:sp>
        <p:nvSpPr>
          <p:cNvPr id="28" name="TextBox 27"/>
          <p:cNvSpPr txBox="1"/>
          <p:nvPr/>
        </p:nvSpPr>
        <p:spPr>
          <a:xfrm>
            <a:off x="4572000" y="3246120"/>
            <a:ext cx="3108960" cy="274320"/>
          </a:xfrm>
          <a:prstGeom prst="rect">
            <a:avLst/>
          </a:prstGeom>
          <a:noFill/>
        </p:spPr>
        <p:txBody>
          <a:bodyPr wrap="square">
            <a:spAutoFit/>
          </a:bodyPr>
          <a:lstStyle/>
          <a:p>
            <a:pPr algn="l"/>
            <a:r>
              <a:rPr sz="1000" b="0">
                <a:solidFill>
                  <a:srgbClr val="94A3B8"/>
                </a:solidFill>
                <a:latin typeface="Calibri"/>
              </a:rPr>
              <a:t>Mean + StdDev + Entropy + Gini + Velocity</a:t>
            </a:r>
          </a:p>
        </p:txBody>
      </p:sp>
      <p:sp>
        <p:nvSpPr>
          <p:cNvPr id="29" name="TextBox 28"/>
          <p:cNvSpPr txBox="1"/>
          <p:nvPr/>
        </p:nvSpPr>
        <p:spPr>
          <a:xfrm>
            <a:off x="4572000" y="3657599"/>
            <a:ext cx="3108960" cy="274320"/>
          </a:xfrm>
          <a:prstGeom prst="rect">
            <a:avLst/>
          </a:prstGeom>
          <a:noFill/>
        </p:spPr>
        <p:txBody>
          <a:bodyPr wrap="square">
            <a:spAutoFit/>
          </a:bodyPr>
          <a:lstStyle/>
          <a:p>
            <a:pPr algn="l"/>
            <a:r>
              <a:rPr sz="1300" b="1">
                <a:solidFill>
                  <a:srgbClr val="FFFFFF"/>
                </a:solidFill>
                <a:latin typeface="Calibri"/>
              </a:rPr>
              <a:t>Goal Risk</a:t>
            </a:r>
          </a:p>
        </p:txBody>
      </p:sp>
      <p:sp>
        <p:nvSpPr>
          <p:cNvPr id="30" name="TextBox 29"/>
          <p:cNvSpPr txBox="1"/>
          <p:nvPr/>
        </p:nvSpPr>
        <p:spPr>
          <a:xfrm>
            <a:off x="4572000" y="3886199"/>
            <a:ext cx="3108960" cy="274320"/>
          </a:xfrm>
          <a:prstGeom prst="rect">
            <a:avLst/>
          </a:prstGeom>
          <a:noFill/>
        </p:spPr>
        <p:txBody>
          <a:bodyPr wrap="square">
            <a:spAutoFit/>
          </a:bodyPr>
          <a:lstStyle/>
          <a:p>
            <a:pPr algn="l"/>
            <a:r>
              <a:rPr sz="1000" b="0">
                <a:solidFill>
                  <a:srgbClr val="94A3B8"/>
                </a:solidFill>
                <a:latin typeface="Calibri"/>
              </a:rPr>
              <a:t>Schedule + Velocity + Dependency + Complexity</a:t>
            </a:r>
          </a:p>
        </p:txBody>
      </p:sp>
      <p:sp>
        <p:nvSpPr>
          <p:cNvPr id="31" name="TextBox 30"/>
          <p:cNvSpPr txBox="1"/>
          <p:nvPr/>
        </p:nvSpPr>
        <p:spPr>
          <a:xfrm>
            <a:off x="4572000" y="4297679"/>
            <a:ext cx="3108960" cy="274320"/>
          </a:xfrm>
          <a:prstGeom prst="rect">
            <a:avLst/>
          </a:prstGeom>
          <a:noFill/>
        </p:spPr>
        <p:txBody>
          <a:bodyPr wrap="square">
            <a:spAutoFit/>
          </a:bodyPr>
          <a:lstStyle/>
          <a:p>
            <a:pPr algn="l"/>
            <a:r>
              <a:rPr sz="1300" b="1">
                <a:solidFill>
                  <a:srgbClr val="FFFFFF"/>
                </a:solidFill>
                <a:latin typeface="Calibri"/>
              </a:rPr>
              <a:t>Review Calibration</a:t>
            </a:r>
          </a:p>
        </p:txBody>
      </p:sp>
      <p:sp>
        <p:nvSpPr>
          <p:cNvPr id="32" name="TextBox 31"/>
          <p:cNvSpPr txBox="1"/>
          <p:nvPr/>
        </p:nvSpPr>
        <p:spPr>
          <a:xfrm>
            <a:off x="4572000" y="4526279"/>
            <a:ext cx="3108960" cy="274320"/>
          </a:xfrm>
          <a:prstGeom prst="rect">
            <a:avLst/>
          </a:prstGeom>
          <a:noFill/>
        </p:spPr>
        <p:txBody>
          <a:bodyPr wrap="square">
            <a:spAutoFit/>
          </a:bodyPr>
          <a:lstStyle/>
          <a:p>
            <a:pPr algn="l"/>
            <a:r>
              <a:rPr sz="1000" b="0">
                <a:solidFill>
                  <a:srgbClr val="94A3B8"/>
                </a:solidFill>
                <a:latin typeface="Calibri"/>
              </a:rPr>
              <a:t>Z-Score normalization per reviewer</a:t>
            </a:r>
          </a:p>
        </p:txBody>
      </p:sp>
      <p:sp>
        <p:nvSpPr>
          <p:cNvPr id="33" name="TextBox 32"/>
          <p:cNvSpPr txBox="1"/>
          <p:nvPr/>
        </p:nvSpPr>
        <p:spPr>
          <a:xfrm>
            <a:off x="4572000" y="4937760"/>
            <a:ext cx="3108960" cy="274320"/>
          </a:xfrm>
          <a:prstGeom prst="rect">
            <a:avLst/>
          </a:prstGeom>
          <a:noFill/>
        </p:spPr>
        <p:txBody>
          <a:bodyPr wrap="square">
            <a:spAutoFit/>
          </a:bodyPr>
          <a:lstStyle/>
          <a:p>
            <a:pPr algn="l"/>
            <a:r>
              <a:rPr sz="1300" b="1">
                <a:solidFill>
                  <a:srgbClr val="FFFFFF"/>
                </a:solidFill>
                <a:latin typeface="Calibri"/>
              </a:rPr>
              <a:t>Disparate Impact</a:t>
            </a:r>
          </a:p>
        </p:txBody>
      </p:sp>
      <p:sp>
        <p:nvSpPr>
          <p:cNvPr id="34" name="TextBox 33"/>
          <p:cNvSpPr txBox="1"/>
          <p:nvPr/>
        </p:nvSpPr>
        <p:spPr>
          <a:xfrm>
            <a:off x="4572000" y="5166360"/>
            <a:ext cx="3108960" cy="274320"/>
          </a:xfrm>
          <a:prstGeom prst="rect">
            <a:avLst/>
          </a:prstGeom>
          <a:noFill/>
        </p:spPr>
        <p:txBody>
          <a:bodyPr wrap="square">
            <a:spAutoFit/>
          </a:bodyPr>
          <a:lstStyle/>
          <a:p>
            <a:pPr algn="l"/>
            <a:r>
              <a:rPr sz="1000" b="0">
                <a:solidFill>
                  <a:srgbClr val="94A3B8"/>
                </a:solidFill>
                <a:latin typeface="Calibri"/>
              </a:rPr>
              <a:t>4/5ths rule fairness analysis</a:t>
            </a:r>
          </a:p>
        </p:txBody>
      </p:sp>
      <p:sp>
        <p:nvSpPr>
          <p:cNvPr id="35" name="Rectangle 34"/>
          <p:cNvSpPr/>
          <p:nvPr/>
        </p:nvSpPr>
        <p:spPr>
          <a:xfrm>
            <a:off x="8046720" y="1097280"/>
            <a:ext cx="3657600" cy="530352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0" y="1188720"/>
            <a:ext cx="3291840" cy="457200"/>
          </a:xfrm>
          <a:prstGeom prst="rect">
            <a:avLst/>
          </a:prstGeom>
          <a:noFill/>
        </p:spPr>
        <p:txBody>
          <a:bodyPr wrap="square">
            <a:spAutoFit/>
          </a:bodyPr>
          <a:lstStyle/>
          <a:p>
            <a:pPr algn="l"/>
            <a:r>
              <a:rPr sz="1600" b="1">
                <a:solidFill>
                  <a:srgbClr val="22C55E"/>
                </a:solidFill>
                <a:latin typeface="Calibri"/>
              </a:rPr>
              <a:t>LAYER 3: CPIS (8 Dimensions)</a:t>
            </a:r>
          </a:p>
        </p:txBody>
      </p:sp>
      <p:sp>
        <p:nvSpPr>
          <p:cNvPr id="37" name="TextBox 36"/>
          <p:cNvSpPr txBox="1"/>
          <p:nvPr/>
        </p:nvSpPr>
        <p:spPr>
          <a:xfrm>
            <a:off x="8321040" y="1737360"/>
            <a:ext cx="1463040" cy="274320"/>
          </a:xfrm>
          <a:prstGeom prst="rect">
            <a:avLst/>
          </a:prstGeom>
          <a:noFill/>
        </p:spPr>
        <p:txBody>
          <a:bodyPr wrap="square">
            <a:spAutoFit/>
          </a:bodyPr>
          <a:lstStyle/>
          <a:p>
            <a:pPr algn="l"/>
            <a:r>
              <a:rPr sz="1300" b="1">
                <a:solidFill>
                  <a:srgbClr val="14B8A6"/>
                </a:solidFill>
                <a:latin typeface="Calibri"/>
              </a:rPr>
              <a:t>GAI 25%</a:t>
            </a:r>
          </a:p>
        </p:txBody>
      </p:sp>
      <p:sp>
        <p:nvSpPr>
          <p:cNvPr id="38" name="TextBox 37"/>
          <p:cNvSpPr txBox="1"/>
          <p:nvPr/>
        </p:nvSpPr>
        <p:spPr>
          <a:xfrm>
            <a:off x="9692640" y="1737360"/>
            <a:ext cx="1828800" cy="274320"/>
          </a:xfrm>
          <a:prstGeom prst="rect">
            <a:avLst/>
          </a:prstGeom>
          <a:noFill/>
        </p:spPr>
        <p:txBody>
          <a:bodyPr wrap="square">
            <a:spAutoFit/>
          </a:bodyPr>
          <a:lstStyle/>
          <a:p>
            <a:pPr algn="l"/>
            <a:r>
              <a:rPr sz="1100" b="0">
                <a:solidFill>
                  <a:srgbClr val="E2E8F0"/>
                </a:solidFill>
                <a:latin typeface="Calibri"/>
              </a:rPr>
              <a:t>Goal Attainment Index</a:t>
            </a:r>
          </a:p>
        </p:txBody>
      </p:sp>
      <p:sp>
        <p:nvSpPr>
          <p:cNvPr id="39" name="TextBox 38"/>
          <p:cNvSpPr txBox="1"/>
          <p:nvPr/>
        </p:nvSpPr>
        <p:spPr>
          <a:xfrm>
            <a:off x="8321040" y="2286000"/>
            <a:ext cx="1463040" cy="274320"/>
          </a:xfrm>
          <a:prstGeom prst="rect">
            <a:avLst/>
          </a:prstGeom>
          <a:noFill/>
        </p:spPr>
        <p:txBody>
          <a:bodyPr wrap="square">
            <a:spAutoFit/>
          </a:bodyPr>
          <a:lstStyle/>
          <a:p>
            <a:pPr algn="l"/>
            <a:r>
              <a:rPr sz="1300" b="1">
                <a:solidFill>
                  <a:srgbClr val="14B8A6"/>
                </a:solidFill>
                <a:latin typeface="Calibri"/>
              </a:rPr>
              <a:t>RQS 20%</a:t>
            </a:r>
          </a:p>
        </p:txBody>
      </p:sp>
      <p:sp>
        <p:nvSpPr>
          <p:cNvPr id="40" name="TextBox 39"/>
          <p:cNvSpPr txBox="1"/>
          <p:nvPr/>
        </p:nvSpPr>
        <p:spPr>
          <a:xfrm>
            <a:off x="9692640" y="2286000"/>
            <a:ext cx="1828800" cy="274320"/>
          </a:xfrm>
          <a:prstGeom prst="rect">
            <a:avLst/>
          </a:prstGeom>
          <a:noFill/>
        </p:spPr>
        <p:txBody>
          <a:bodyPr wrap="square">
            <a:spAutoFit/>
          </a:bodyPr>
          <a:lstStyle/>
          <a:p>
            <a:pPr algn="l"/>
            <a:r>
              <a:rPr sz="1100" b="0">
                <a:solidFill>
                  <a:srgbClr val="E2E8F0"/>
                </a:solidFill>
                <a:latin typeface="Calibri"/>
              </a:rPr>
              <a:t>Review Quality Score</a:t>
            </a:r>
          </a:p>
        </p:txBody>
      </p:sp>
      <p:sp>
        <p:nvSpPr>
          <p:cNvPr id="41" name="TextBox 40"/>
          <p:cNvSpPr txBox="1"/>
          <p:nvPr/>
        </p:nvSpPr>
        <p:spPr>
          <a:xfrm>
            <a:off x="8321040" y="2834639"/>
            <a:ext cx="1463040" cy="274320"/>
          </a:xfrm>
          <a:prstGeom prst="rect">
            <a:avLst/>
          </a:prstGeom>
          <a:noFill/>
        </p:spPr>
        <p:txBody>
          <a:bodyPr wrap="square">
            <a:spAutoFit/>
          </a:bodyPr>
          <a:lstStyle/>
          <a:p>
            <a:pPr algn="l"/>
            <a:r>
              <a:rPr sz="1300" b="1">
                <a:solidFill>
                  <a:srgbClr val="14B8A6"/>
                </a:solidFill>
                <a:latin typeface="Calibri"/>
              </a:rPr>
              <a:t>FSI 12%</a:t>
            </a:r>
          </a:p>
        </p:txBody>
      </p:sp>
      <p:sp>
        <p:nvSpPr>
          <p:cNvPr id="42" name="TextBox 41"/>
          <p:cNvSpPr txBox="1"/>
          <p:nvPr/>
        </p:nvSpPr>
        <p:spPr>
          <a:xfrm>
            <a:off x="9692640" y="2834639"/>
            <a:ext cx="1828800" cy="274320"/>
          </a:xfrm>
          <a:prstGeom prst="rect">
            <a:avLst/>
          </a:prstGeom>
          <a:noFill/>
        </p:spPr>
        <p:txBody>
          <a:bodyPr wrap="square">
            <a:spAutoFit/>
          </a:bodyPr>
          <a:lstStyle/>
          <a:p>
            <a:pPr algn="l"/>
            <a:r>
              <a:rPr sz="1100" b="0">
                <a:solidFill>
                  <a:srgbClr val="E2E8F0"/>
                </a:solidFill>
                <a:latin typeface="Calibri"/>
              </a:rPr>
              <a:t>Feedback Sentiment Index</a:t>
            </a:r>
          </a:p>
        </p:txBody>
      </p:sp>
      <p:sp>
        <p:nvSpPr>
          <p:cNvPr id="43" name="TextBox 42"/>
          <p:cNvSpPr txBox="1"/>
          <p:nvPr/>
        </p:nvSpPr>
        <p:spPr>
          <a:xfrm>
            <a:off x="8321040" y="3383279"/>
            <a:ext cx="1463040" cy="274320"/>
          </a:xfrm>
          <a:prstGeom prst="rect">
            <a:avLst/>
          </a:prstGeom>
          <a:noFill/>
        </p:spPr>
        <p:txBody>
          <a:bodyPr wrap="square">
            <a:spAutoFit/>
          </a:bodyPr>
          <a:lstStyle/>
          <a:p>
            <a:pPr algn="l"/>
            <a:r>
              <a:rPr sz="1300" b="1">
                <a:solidFill>
                  <a:srgbClr val="14B8A6"/>
                </a:solidFill>
                <a:latin typeface="Calibri"/>
              </a:rPr>
              <a:t>CIS 10%</a:t>
            </a:r>
          </a:p>
        </p:txBody>
      </p:sp>
      <p:sp>
        <p:nvSpPr>
          <p:cNvPr id="44" name="TextBox 43"/>
          <p:cNvSpPr txBox="1"/>
          <p:nvPr/>
        </p:nvSpPr>
        <p:spPr>
          <a:xfrm>
            <a:off x="9692640" y="3383279"/>
            <a:ext cx="1828800" cy="274320"/>
          </a:xfrm>
          <a:prstGeom prst="rect">
            <a:avLst/>
          </a:prstGeom>
          <a:noFill/>
        </p:spPr>
        <p:txBody>
          <a:bodyPr wrap="square">
            <a:spAutoFit/>
          </a:bodyPr>
          <a:lstStyle/>
          <a:p>
            <a:pPr algn="l"/>
            <a:r>
              <a:rPr sz="1100" b="0">
                <a:solidFill>
                  <a:srgbClr val="E2E8F0"/>
                </a:solidFill>
                <a:latin typeface="Calibri"/>
              </a:rPr>
              <a:t>Collaboration Impact Score</a:t>
            </a:r>
          </a:p>
        </p:txBody>
      </p:sp>
      <p:sp>
        <p:nvSpPr>
          <p:cNvPr id="45" name="TextBox 44"/>
          <p:cNvSpPr txBox="1"/>
          <p:nvPr/>
        </p:nvSpPr>
        <p:spPr>
          <a:xfrm>
            <a:off x="8321040" y="3931920"/>
            <a:ext cx="1463040" cy="274320"/>
          </a:xfrm>
          <a:prstGeom prst="rect">
            <a:avLst/>
          </a:prstGeom>
          <a:noFill/>
        </p:spPr>
        <p:txBody>
          <a:bodyPr wrap="square">
            <a:spAutoFit/>
          </a:bodyPr>
          <a:lstStyle/>
          <a:p>
            <a:pPr algn="l"/>
            <a:r>
              <a:rPr sz="1300" b="1">
                <a:solidFill>
                  <a:srgbClr val="14B8A6"/>
                </a:solidFill>
                <a:latin typeface="Calibri"/>
              </a:rPr>
              <a:t>CRI 10%</a:t>
            </a:r>
          </a:p>
        </p:txBody>
      </p:sp>
      <p:sp>
        <p:nvSpPr>
          <p:cNvPr id="46" name="TextBox 45"/>
          <p:cNvSpPr txBox="1"/>
          <p:nvPr/>
        </p:nvSpPr>
        <p:spPr>
          <a:xfrm>
            <a:off x="9692640" y="3931920"/>
            <a:ext cx="1828800" cy="274320"/>
          </a:xfrm>
          <a:prstGeom prst="rect">
            <a:avLst/>
          </a:prstGeom>
          <a:noFill/>
        </p:spPr>
        <p:txBody>
          <a:bodyPr wrap="square">
            <a:spAutoFit/>
          </a:bodyPr>
          <a:lstStyle/>
          <a:p>
            <a:pPr algn="l"/>
            <a:r>
              <a:rPr sz="1100" b="0">
                <a:solidFill>
                  <a:srgbClr val="E2E8F0"/>
                </a:solidFill>
                <a:latin typeface="Calibri"/>
              </a:rPr>
              <a:t>Consistency &amp; Reliability</a:t>
            </a:r>
          </a:p>
        </p:txBody>
      </p:sp>
      <p:sp>
        <p:nvSpPr>
          <p:cNvPr id="47" name="TextBox 46"/>
          <p:cNvSpPr txBox="1"/>
          <p:nvPr/>
        </p:nvSpPr>
        <p:spPr>
          <a:xfrm>
            <a:off x="8321040" y="4480560"/>
            <a:ext cx="1463040" cy="274320"/>
          </a:xfrm>
          <a:prstGeom prst="rect">
            <a:avLst/>
          </a:prstGeom>
          <a:noFill/>
        </p:spPr>
        <p:txBody>
          <a:bodyPr wrap="square">
            <a:spAutoFit/>
          </a:bodyPr>
          <a:lstStyle/>
          <a:p>
            <a:pPr algn="l"/>
            <a:r>
              <a:rPr sz="1300" b="1">
                <a:solidFill>
                  <a:srgbClr val="14B8A6"/>
                </a:solidFill>
                <a:latin typeface="Calibri"/>
              </a:rPr>
              <a:t>GTS 8%</a:t>
            </a:r>
          </a:p>
        </p:txBody>
      </p:sp>
      <p:sp>
        <p:nvSpPr>
          <p:cNvPr id="48" name="TextBox 47"/>
          <p:cNvSpPr txBox="1"/>
          <p:nvPr/>
        </p:nvSpPr>
        <p:spPr>
          <a:xfrm>
            <a:off x="9692640" y="4480560"/>
            <a:ext cx="1828800" cy="274320"/>
          </a:xfrm>
          <a:prstGeom prst="rect">
            <a:avLst/>
          </a:prstGeom>
          <a:noFill/>
        </p:spPr>
        <p:txBody>
          <a:bodyPr wrap="square">
            <a:spAutoFit/>
          </a:bodyPr>
          <a:lstStyle/>
          <a:p>
            <a:pPr algn="l"/>
            <a:r>
              <a:rPr sz="1100" b="0">
                <a:solidFill>
                  <a:srgbClr val="E2E8F0"/>
                </a:solidFill>
                <a:latin typeface="Calibri"/>
              </a:rPr>
              <a:t>Growth Trajectory Score</a:t>
            </a:r>
          </a:p>
        </p:txBody>
      </p:sp>
      <p:sp>
        <p:nvSpPr>
          <p:cNvPr id="49" name="TextBox 48"/>
          <p:cNvSpPr txBox="1"/>
          <p:nvPr/>
        </p:nvSpPr>
        <p:spPr>
          <a:xfrm>
            <a:off x="8321040" y="5029200"/>
            <a:ext cx="1463040" cy="274320"/>
          </a:xfrm>
          <a:prstGeom prst="rect">
            <a:avLst/>
          </a:prstGeom>
          <a:noFill/>
        </p:spPr>
        <p:txBody>
          <a:bodyPr wrap="square">
            <a:spAutoFit/>
          </a:bodyPr>
          <a:lstStyle/>
          <a:p>
            <a:pPr algn="l"/>
            <a:r>
              <a:rPr sz="1300" b="1">
                <a:solidFill>
                  <a:srgbClr val="14B8A6"/>
                </a:solidFill>
                <a:latin typeface="Calibri"/>
              </a:rPr>
              <a:t>EQS 8%</a:t>
            </a:r>
          </a:p>
        </p:txBody>
      </p:sp>
      <p:sp>
        <p:nvSpPr>
          <p:cNvPr id="50" name="TextBox 49"/>
          <p:cNvSpPr txBox="1"/>
          <p:nvPr/>
        </p:nvSpPr>
        <p:spPr>
          <a:xfrm>
            <a:off x="9692640" y="5029200"/>
            <a:ext cx="1828800" cy="274320"/>
          </a:xfrm>
          <a:prstGeom prst="rect">
            <a:avLst/>
          </a:prstGeom>
          <a:noFill/>
        </p:spPr>
        <p:txBody>
          <a:bodyPr wrap="square">
            <a:spAutoFit/>
          </a:bodyPr>
          <a:lstStyle/>
          <a:p>
            <a:pPr algn="l"/>
            <a:r>
              <a:rPr sz="1100" b="0">
                <a:solidFill>
                  <a:srgbClr val="E2E8F0"/>
                </a:solidFill>
                <a:latin typeface="Calibri"/>
              </a:rPr>
              <a:t>Evidence Quality Score</a:t>
            </a:r>
          </a:p>
        </p:txBody>
      </p:sp>
      <p:sp>
        <p:nvSpPr>
          <p:cNvPr id="51" name="TextBox 50"/>
          <p:cNvSpPr txBox="1"/>
          <p:nvPr/>
        </p:nvSpPr>
        <p:spPr>
          <a:xfrm>
            <a:off x="8321040" y="5577840"/>
            <a:ext cx="1463040" cy="274320"/>
          </a:xfrm>
          <a:prstGeom prst="rect">
            <a:avLst/>
          </a:prstGeom>
          <a:noFill/>
        </p:spPr>
        <p:txBody>
          <a:bodyPr wrap="square">
            <a:spAutoFit/>
          </a:bodyPr>
          <a:lstStyle/>
          <a:p>
            <a:pPr algn="l"/>
            <a:r>
              <a:rPr sz="1300" b="1">
                <a:solidFill>
                  <a:srgbClr val="14B8A6"/>
                </a:solidFill>
                <a:latin typeface="Calibri"/>
              </a:rPr>
              <a:t>III 7%</a:t>
            </a:r>
          </a:p>
        </p:txBody>
      </p:sp>
      <p:sp>
        <p:nvSpPr>
          <p:cNvPr id="52" name="TextBox 51"/>
          <p:cNvSpPr txBox="1"/>
          <p:nvPr/>
        </p:nvSpPr>
        <p:spPr>
          <a:xfrm>
            <a:off x="9692640" y="5577840"/>
            <a:ext cx="1828800" cy="274320"/>
          </a:xfrm>
          <a:prstGeom prst="rect">
            <a:avLst/>
          </a:prstGeom>
          <a:noFill/>
        </p:spPr>
        <p:txBody>
          <a:bodyPr wrap="square">
            <a:spAutoFit/>
          </a:bodyPr>
          <a:lstStyle/>
          <a:p>
            <a:pPr algn="l"/>
            <a:r>
              <a:rPr sz="1100" b="0">
                <a:solidFill>
                  <a:srgbClr val="E2E8F0"/>
                </a:solidFill>
                <a:latin typeface="Calibri"/>
              </a:rPr>
              <a:t>Initiative &amp; Innovation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Clamp Percentage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Every score calculation as final safety bound</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Bounds any number to a valid percentage range (0-100). Acts as a safety net ensuring no score goes below 0 or above 100.</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 = any input number</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min = 0 (lower bound)</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max = 100 (upper bound)</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clampPct(x) = max(0, min(100, x))</a:t>
            </a:r>
          </a:p>
        </p:txBody>
      </p:sp>
      <p:sp>
        <p:nvSpPr>
          <p:cNvPr id="17" name="Rectangle 16"/>
          <p:cNvSpPr/>
          <p:nvPr/>
        </p:nvSpPr>
        <p:spPr>
          <a:xfrm>
            <a:off x="5943600" y="3200400"/>
            <a:ext cx="5852160" cy="182880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Always 0 to 100</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Example: clampPct(115) = 100</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Example: clampPct(-5) = 0</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Example: clampPct(78) = 78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#2</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Arithmetic Mean (Simple Average)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Team average scores, department averages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Calculates the basic average of a set of numbers. Sum all values, divide by count. Treats every value equally.</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x1, x2, ..., xn = set of values</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n = count of values</a:t>
            </a:r>
          </a:p>
        </p:txBody>
      </p:sp>
      <p:sp>
        <p:nvSpPr>
          <p:cNvPr id="13" name="Rectangle 12"/>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5" name="TextBox 14"/>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Mean = (x1 + x2 + ... + xn) / n</a:t>
            </a:r>
          </a:p>
        </p:txBody>
      </p:sp>
      <p:sp>
        <p:nvSpPr>
          <p:cNvPr id="16" name="Rectangle 15"/>
          <p:cNvSpPr/>
          <p:nvPr/>
        </p:nvSpPr>
        <p:spPr>
          <a:xfrm>
            <a:off x="5943600" y="3200400"/>
            <a:ext cx="5852160" cy="182880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8" name="TextBox 17"/>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Single number (same unit as inputs)</a:t>
            </a:r>
          </a:p>
        </p:txBody>
      </p:sp>
      <p:sp>
        <p:nvSpPr>
          <p:cNvPr id="19" name="TextBox 18"/>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Example: mean(80, 90, 70) = 80</a:t>
            </a:r>
          </a:p>
        </p:txBody>
      </p:sp>
      <p:sp>
        <p:nvSpPr>
          <p:cNvPr id="20" name="TextBox 19"/>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No threshold — used as building block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#3</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Weighted Arithmetic Mean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CPIS dimension aggregation, goal composite scores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Average where some values count more than others. Like how a final exam counts more than homework. Each value is multiplied by its importance weight.</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xi = each value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wi = weight (importance) of each value</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Sum of weights does NOT need to equal 1</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Weighted Mean = Sum(wi * xi) / Sum(wi)</a:t>
            </a:r>
          </a:p>
        </p:txBody>
      </p:sp>
      <p:sp>
        <p:nvSpPr>
          <p:cNvPr id="17" name="Rectangle 16"/>
          <p:cNvSpPr/>
          <p:nvPr/>
        </p:nvSpPr>
        <p:spPr>
          <a:xfrm>
            <a:off x="5943600" y="3200400"/>
            <a:ext cx="5852160" cy="182880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Single weighted average</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Example: Goals(80)x0.4 + Reviews(90)x0.3 + Feedback(70)x0.3</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 (32 + 27 + 21) / 1.0 = 80</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Higher weights = more influence on final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#4</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Weighted Harmonic Mean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Review Quality Score (RQS) — combining trust-weighted ratings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A special average that is better for rates and ratios. Unlike arithmetic mean, it prevents one very high score from masking many low ones. More "pessimistic" — pulls toward lower values.</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xi = each rating value (must be &gt; 0)</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wi = weight per rating (e.g., reviewer trust)</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Cannot handle zero values</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WHM = Sum(wi) / Sum(wi / xi)</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Single number, always &lt;= arithmetic mean</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Example: ratings [5, 2, 2] with equal weights</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Arithmetic mean = 3.0</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Harmonic mean = 2.5 (closer to reality)</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Prevents inflated averages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#5</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Variance &amp; Standard Deviation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Team analytics, rating consistency, calibration</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how spread out scores are from the average. Low = everyone is similar. High = big differences. Standard deviation is the square root of variance (same unit as data).</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xi = each data point</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mu = mean of all data points</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n = count of data points</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Variance = Sum((xi - mu)^2) / n
Std Dev = sqrt(Variance)</a:t>
            </a:r>
          </a:p>
        </p:txBody>
      </p:sp>
      <p:sp>
        <p:nvSpPr>
          <p:cNvPr id="17" name="Rectangle 16"/>
          <p:cNvSpPr/>
          <p:nvPr/>
        </p:nvSpPr>
        <p:spPr>
          <a:xfrm>
            <a:off x="5943600" y="3200400"/>
            <a:ext cx="5852160" cy="182880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Number &gt;= 0</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StdDev = 0 means all scores identical</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StdDev = 5 on a 0-100 scale = very consistent</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StdDev = 20 = wide spread, big gaps in team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#6</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Sample Standard Deviation (Bessel's Correction)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Team comparisons when team sizes differ</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When working with a sample (not full data), we divide by (n-1) instead of n. This avoids underestimating the true spread. Important when team size is small.</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xi = each data point</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x_bar = sample mean</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n = sample size (must be &gt;= 2)</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Sample StdDev = sqrt(Sum((xi - x_bar)^2) / (n - 1))</a:t>
            </a:r>
          </a:p>
        </p:txBody>
      </p:sp>
      <p:sp>
        <p:nvSpPr>
          <p:cNvPr id="17" name="Rectangle 16"/>
          <p:cNvSpPr/>
          <p:nvPr/>
        </p:nvSpPr>
        <p:spPr>
          <a:xfrm>
            <a:off x="5943600" y="3200400"/>
            <a:ext cx="5852160" cy="182880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Slightly larger than regular StdDev</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Critical when n &lt; 30 (small teams)</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Falls back to population StdDev when n = 1</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Ensures fair spread estimation for small groups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#7</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Z-Score Normalization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Peer comparison, review calibration, anomaly detection</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how many standard deviations a value is above or below average. Like grading on a curve — a Z-score of +2 means "way above average" regardless of the original scale.</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 = individual value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mu = group mean (average)</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sigma = group standard deviation</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Z = (x - mu) / sigma</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Usually -3 to +3</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Z = 0: Exactly average</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Z = +1: One std dev above average (top ~16%)</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Z = +2: Two std dev above (top ~2%)</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Z &lt; -1: Below average (flag for support)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#8</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Sigmoid Function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Collaboration scores, risk scores, initiative metrics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Maps ANY number to a smooth S-curve between 0 and 1. Small inputs give near-0, large inputs give near-1, with a rapid transition zone in the middle. Perfect for converting raw counts to scores.</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 = input value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k = steepness (how sharp the transition)</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x0 = midpoint (where output = 0.5)</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sigmoid(x) = 1 / (1 + e^(-k * (x - x0)))</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 to 1 (smooth curve)</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At x = x0: output = 0.5 (midpoint)</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k = 0.2: gentle curve</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k = 3: sharp threshold-like curve</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Multiply by 100 for percentage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#9</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Bounded Sigmoid</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CPIS collaboration channels, timeliness factor, initiative scoring</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Sigmoid that maps to a custom range instead of 0-1. For example, map collaboration activity count to 0-100 scale, or timeliness to 0.6-1.4 multiplier.</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 = input value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min = minimum output</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max = maximum output</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k = steepness</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x0 = midpoint</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bounded(x) = min + (max - min) * sigmoid(x, k, x0)</a:t>
            </a:r>
          </a:p>
        </p:txBody>
      </p:sp>
      <p:sp>
        <p:nvSpPr>
          <p:cNvPr id="19" name="Rectangle 18"/>
          <p:cNvSpPr/>
          <p:nvPr/>
        </p:nvSpPr>
        <p:spPr>
          <a:xfrm>
            <a:off x="5943600" y="3200400"/>
            <a:ext cx="5852160" cy="182880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min to max (configurable)</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Example: 3 cross-team goals, k=0.5, x0=3</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-&gt; sigmoid = 0.5 -&gt; score = 50/100</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Example: 8 goals -&gt; sigmoid = 0.92 -&gt; score = 92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#10</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Pearson Correlation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Analytics insights, finding hidden performance drivers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the strength of a straight-line relationship between two variables. Do they move together (+1), move opposite (-1), or not related (0)?</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 = first variable (e.g., attendance rates)</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Y = second variable (e.g., performance scores)</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n = number of paired observations</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r = Sum((xi-x_bar)(yi-y_bar)) / sqrt(Sum((xi-x_bar)^2) * Sum((yi-y_bar)^2))</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-1 to +1</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r = +0.8 to +1.0: Strong positive (they rise together)</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r = +0.3 to +0.8: Moderate positive</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r = -0.3 to +0.3: Weak / no relationship</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r = -1.0 to -0.3: Negative (one rises, other falls)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#11</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Linear Regression (Trend Line)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Growth Trajectory Score, team velocity trends, score predictions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Fits a straight line through data points to show the trend. Positive slope = improving over time. Also gives R-squared: how well the line fits the data (0 = random, 1 = perfect fit).</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 = time points (e.g., quarter 1, 2, 3)</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y = scores at each time point</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n = number of data points (need &gt;= 2)</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y = mx + b
where m = slope, b = intercept
R^2 = goodness of fit (0 to 1)</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m &gt; 0: Performance improving</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m = 0: Stable/flat</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m &lt; 0: Performance declining</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R^2 &gt; 0.7: Strong trend (reliable prediction)</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R^2 &lt; 0.3: Weak trend (noisy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#12</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EWMA (Exponentially Weighted Moving Average)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Feedback Sentiment (alpha=0.35), Quality Scores (alpha=0.4)</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A "smart average" that gives more weight to recent data. Like memory that gradually fades — yesterday matters more than last year. Recent events shape the score more.</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xt = current value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EWMA(t-1) = previous EWMA</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alpha = smoothing factor (0-1)</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alpha=0.3 = moderate recency bias</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alpha=0.4 = stronger recency bias</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EWMA(t) = alpha * x(t) + (1 - alpha) * EWMA(t-1)</a:t>
            </a:r>
          </a:p>
        </p:txBody>
      </p:sp>
      <p:sp>
        <p:nvSpPr>
          <p:cNvPr id="19" name="Rectangle 18"/>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Smoothed trend value</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alpha = 0.3: 30% current, 70% history</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alpha = 0.4: 40% current, 60% history</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Higher alpha = more reactive to recent changes</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Lower alpha = more stable, less reactive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#13</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Shannon Entropy</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Team analytics, calibration health checks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how evenly distributed ratings are. If everyone gets the same rating = 0 (no diversity). If ratings are perfectly spread across all levels = 1 (maximum diversity). Detects "rating clustering."</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pi = proportion in each rating bucket</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k = number of possible ratings (e.g., 5)</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Normalized to 0-1 scale</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H = -Sum(pi * log2(pi)) / log2(k)</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 to 1</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H = 0: All same rating (everyone got a 4)</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H = 0.5: Some clustering</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H = 1.0: Perfect spread across all ratings</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H &lt; 0.3: WARNING — manager may be rating lazily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#14</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Percentile Rank</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Leaderboards, performance ranking, derived rating (1-5 stars)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Shows what percentage of people scored lower. The 82nd percentile means "better than 82% of peers." Uses interpolation for ties to avoid unfair clumping.</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score = individual's score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all_scores = sorted list of all scores</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n = total count</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Percentile = (count_below + 0.5 * count_equal) / n * 100</a:t>
            </a:r>
          </a:p>
        </p:txBody>
      </p:sp>
      <p:sp>
        <p:nvSpPr>
          <p:cNvPr id="17" name="Rectangle 16"/>
          <p:cNvSpPr/>
          <p:nvPr/>
        </p:nvSpPr>
        <p:spPr>
          <a:xfrm>
            <a:off x="5943600" y="3200400"/>
            <a:ext cx="5852160" cy="2304288"/>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 to 100</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90th percentile: Top 10% performer</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75th percentile: Above average</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50th percentile: Exactly average</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25th percentile: Below average</a:t>
            </a:r>
          </a:p>
        </p:txBody>
      </p:sp>
      <p:sp>
        <p:nvSpPr>
          <p:cNvPr id="24" name="TextBox 23"/>
          <p:cNvSpPr txBox="1"/>
          <p:nvPr/>
        </p:nvSpPr>
        <p:spPr>
          <a:xfrm>
            <a:off x="6126480" y="4983480"/>
            <a:ext cx="5486400" cy="274320"/>
          </a:xfrm>
          <a:prstGeom prst="rect">
            <a:avLst/>
          </a:prstGeom>
          <a:noFill/>
        </p:spPr>
        <p:txBody>
          <a:bodyPr wrap="square">
            <a:spAutoFit/>
          </a:bodyPr>
          <a:lstStyle/>
          <a:p>
            <a:pPr algn="l"/>
            <a:r>
              <a:rPr sz="1150" b="0">
                <a:solidFill>
                  <a:srgbClr val="E2E8F0"/>
                </a:solidFill>
                <a:latin typeface="Calibri"/>
              </a:rPr>
              <a:t>  10th percentile: Bottom performer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#15</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Bayesian Estimation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CPIS fairness adjustment, new employee scoring</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When individual data is scarce (new employee), it "borrows strength" from the group average. As more data comes in, the estimate gradually shifts to trust individual data more. Prevents unfair scoring of new hires.</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observed_mean = person's actual average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n = person's data count</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prior_mean = department/org average</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prior_weight = how much to trust group (shrinks as n grows)</a:t>
            </a:r>
          </a:p>
        </p:txBody>
      </p:sp>
      <p:sp>
        <p:nvSpPr>
          <p:cNvPr id="15" name="Rectangle 14"/>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7" name="TextBox 16"/>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Bayesian = (prior_mean * prior_weight + observed_mean * n) / (prior_weight + n)</a:t>
            </a:r>
          </a:p>
        </p:txBody>
      </p:sp>
      <p:sp>
        <p:nvSpPr>
          <p:cNvPr id="18" name="Rectangle 17"/>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0" name="TextBox 19"/>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Blended score between individual and group</a:t>
            </a:r>
          </a:p>
        </p:txBody>
      </p:sp>
      <p:sp>
        <p:nvSpPr>
          <p:cNvPr id="21" name="TextBox 20"/>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New hire (n=1): Heavily influenced by dept avg</a:t>
            </a:r>
          </a:p>
        </p:txBody>
      </p:sp>
      <p:sp>
        <p:nvSpPr>
          <p:cNvPr id="22" name="TextBox 21"/>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Experienced (n=20): Almost entirely their own data</a:t>
            </a:r>
          </a:p>
        </p:txBody>
      </p:sp>
      <p:sp>
        <p:nvSpPr>
          <p:cNvPr id="23" name="TextBox 22"/>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prior_weight = max(0, 5 - n * 0.5)</a:t>
            </a:r>
          </a:p>
        </p:txBody>
      </p:sp>
      <p:sp>
        <p:nvSpPr>
          <p:cNvPr id="24" name="TextBox 23"/>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At n &gt;= 10: prior_weight = 0 (fully individual)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#16</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Gini Coefficient</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Team equity analysis, compensation fairness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inequality in distribution — like wealth inequality. Are performance rewards concentrated in a few top performers, or distributed fairly? 0 = perfect equality, 1 = maximum inequality.</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xi = sorted scores (ascending)</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n = count of scores</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Requires sorted input</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G = (2 * Sum(i * xi)) / (n * Sum(xi)) - (n + 1) / n</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 to 1</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G &lt; 0.2: Very equal distribution (healthy team)</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G = 0.2-0.4: Moderate inequality (normal)</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G = 0.4-0.6: High inequality (concerning)</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G &gt; 0.6: Extreme inequality (investigate why)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#17</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Disparate Impact (4/5ths Rule)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CPIS fairness analysis, bias detection dashboard</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A legal fairness test used in employment law. If one group's score falls below 80% of the top group's score, it flags potential discrimination. This is the same test used by courts.</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raw_score = individual's CPIS score</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dept_avg = department average score</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threshold = 0.8 (the 4/5ths rule)</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Disparate Impact Ratio = raw_score / dept_avg
FLAG if ratio &lt; 0.8</a:t>
            </a:r>
          </a:p>
        </p:txBody>
      </p:sp>
      <p:sp>
        <p:nvSpPr>
          <p:cNvPr id="17" name="Rectangle 16"/>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Ratio (typically 0.5 to 1.5)</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Ratio &gt;= 0.8: PASS — no disparate impact</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Ratio &lt; 0.8: FLAG — potential bias detected</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Triggers manual review by HR</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Legally defensible metric (EEOC standard)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371600" y="2286000"/>
            <a:ext cx="9144000" cy="914400"/>
          </a:xfrm>
          <a:prstGeom prst="rect">
            <a:avLst/>
          </a:prstGeom>
          <a:noFill/>
        </p:spPr>
        <p:txBody>
          <a:bodyPr wrap="square">
            <a:spAutoFit/>
          </a:bodyPr>
          <a:lstStyle/>
          <a:p>
            <a:pPr algn="ctr"/>
            <a:r>
              <a:rPr sz="4000" b="1">
                <a:solidFill>
                  <a:srgbClr val="F59E0B"/>
                </a:solidFill>
                <a:latin typeface="Calibri"/>
              </a:rPr>
              <a:t>COMPOSITE SYSTEMS</a:t>
            </a:r>
          </a:p>
        </p:txBody>
      </p:sp>
      <p:sp>
        <p:nvSpPr>
          <p:cNvPr id="3" name="TextBox 2"/>
          <p:cNvSpPr txBox="1"/>
          <p:nvPr/>
        </p:nvSpPr>
        <p:spPr>
          <a:xfrm>
            <a:off x="1371600" y="3474720"/>
            <a:ext cx="9144000" cy="548640"/>
          </a:xfrm>
          <a:prstGeom prst="rect">
            <a:avLst/>
          </a:prstGeom>
          <a:noFill/>
        </p:spPr>
        <p:txBody>
          <a:bodyPr wrap="square">
            <a:spAutoFit/>
          </a:bodyPr>
          <a:lstStyle/>
          <a:p>
            <a:pPr algn="ctr"/>
            <a:r>
              <a:rPr sz="1800" b="0">
                <a:solidFill>
                  <a:srgbClr val="94A3B8"/>
                </a:solidFill>
                <a:latin typeface="Calibri"/>
              </a:rPr>
              <a:t>6 Multi-Formula Calculations Built on the Core 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#18</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Goal Completion Score (Composite)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CPIS Goal Attainment Index (GAI), goal dashboards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Combines 4 factors into one goal score: How much is done (completion), how well (quality), how fast (timeliness), and effort vs difficulty (efficiency). Each factor uses different core formulas.</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Completion = weighted avg of task progress</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Quality = EWMA of quality ratings / 5 * 100</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Timeliness = sigmoid(-avgDaysLate) mapped to 0-100</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Efficiency = clamp(quality/complexity, 0.5-1.5)</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Weights: Completion 50%, Quality 30%, Timeliness 20%</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GoalScore = (0.50 * Completion + 0.30 * Quality + 0.20 * Timeliness) * Efficiency</a:t>
            </a:r>
          </a:p>
        </p:txBody>
      </p:sp>
      <p:sp>
        <p:nvSpPr>
          <p:cNvPr id="19" name="Rectangle 18"/>
          <p:cNvSpPr/>
          <p:nvPr/>
        </p:nvSpPr>
        <p:spPr>
          <a:xfrm>
            <a:off x="5943600" y="3200400"/>
            <a:ext cx="5852160" cy="2304288"/>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 to ~150 (clamped to 100)</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90-100: Exceptional goal delivery</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70-89: Strong performance</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50-69: Meets expectations</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Below 50: Needs improvement</a:t>
            </a:r>
          </a:p>
        </p:txBody>
      </p:sp>
      <p:sp>
        <p:nvSpPr>
          <p:cNvPr id="26" name="TextBox 25"/>
          <p:cNvSpPr txBox="1"/>
          <p:nvPr/>
        </p:nvSpPr>
        <p:spPr>
          <a:xfrm>
            <a:off x="6126480" y="4983480"/>
            <a:ext cx="5486400" cy="274320"/>
          </a:xfrm>
          <a:prstGeom prst="rect">
            <a:avLst/>
          </a:prstGeom>
          <a:noFill/>
        </p:spPr>
        <p:txBody>
          <a:bodyPr wrap="square">
            <a:spAutoFit/>
          </a:bodyPr>
          <a:lstStyle/>
          <a:p>
            <a:pPr algn="l"/>
            <a:r>
              <a:rPr sz="1150" b="0">
                <a:solidFill>
                  <a:srgbClr val="E2E8F0"/>
                </a:solidFill>
                <a:latin typeface="Calibri"/>
              </a:rPr>
              <a:t>  Also calculates: velocity, predicted completion, risk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#19</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Individual Performance Score (Composite)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Employee profiles, rankings, promotion decisions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The overall performance score combining 5 data sources. Uses dynamic weights — if a component has no data, its weight redistributes to others. No one is penalized for missing data.</a:t>
            </a:r>
          </a:p>
        </p:txBody>
      </p:sp>
      <p:sp>
        <p:nvSpPr>
          <p:cNvPr id="9" name="Rectangle 8"/>
          <p:cNvSpPr/>
          <p:nvPr/>
        </p:nvSpPr>
        <p:spPr>
          <a:xfrm>
            <a:off x="365760" y="2743200"/>
            <a:ext cx="5303520" cy="2377439"/>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Goals = weighted mean of goal composite scores</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Reviews = harmonic mean (trust-weighted, bias-corrected)</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Feedback = EWMA of sentiment mapped 0-100</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Attendance = attendance rate * 100</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Collaboration = sigmoid-based channel scores</a:t>
            </a:r>
          </a:p>
        </p:txBody>
      </p:sp>
      <p:sp>
        <p:nvSpPr>
          <p:cNvPr id="16" name="TextBox 15"/>
          <p:cNvSpPr txBox="1"/>
          <p:nvPr/>
        </p:nvSpPr>
        <p:spPr>
          <a:xfrm>
            <a:off x="548640" y="4617720"/>
            <a:ext cx="4937760" cy="274320"/>
          </a:xfrm>
          <a:prstGeom prst="rect">
            <a:avLst/>
          </a:prstGeom>
          <a:noFill/>
        </p:spPr>
        <p:txBody>
          <a:bodyPr wrap="square">
            <a:spAutoFit/>
          </a:bodyPr>
          <a:lstStyle/>
          <a:p>
            <a:pPr algn="l"/>
            <a:r>
              <a:rPr sz="1150" b="0">
                <a:solidFill>
                  <a:srgbClr val="E2E8F0"/>
                </a:solidFill>
                <a:latin typeface="Calibri"/>
              </a:rPr>
              <a:t>  Default weights: Goals 40%, Reviews 30%, Feedback 10%, Attend 10%, Collab 10%</a:t>
            </a:r>
          </a:p>
        </p:txBody>
      </p:sp>
      <p:sp>
        <p:nvSpPr>
          <p:cNvPr id="17" name="Rectangle 16"/>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9" name="TextBox 18"/>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PerfScore = Sum(dynamic_weight_i * component_i)
Derived Rating: Percentile-based 1-5 stars</a:t>
            </a:r>
          </a:p>
        </p:txBody>
      </p:sp>
      <p:sp>
        <p:nvSpPr>
          <p:cNvPr id="20" name="Rectangle 19"/>
          <p:cNvSpPr/>
          <p:nvPr/>
        </p:nvSpPr>
        <p:spPr>
          <a:xfrm>
            <a:off x="5943600" y="3200400"/>
            <a:ext cx="5852160" cy="2596896"/>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2" name="TextBox 21"/>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 score + 1-5 star rating</a:t>
            </a:r>
          </a:p>
        </p:txBody>
      </p:sp>
      <p:sp>
        <p:nvSpPr>
          <p:cNvPr id="23" name="TextBox 22"/>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Top 10% -&gt; 5 stars</a:t>
            </a:r>
          </a:p>
        </p:txBody>
      </p:sp>
      <p:sp>
        <p:nvSpPr>
          <p:cNvPr id="24" name="TextBox 23"/>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Next 20% -&gt; 4 stars</a:t>
            </a:r>
          </a:p>
        </p:txBody>
      </p:sp>
      <p:sp>
        <p:nvSpPr>
          <p:cNvPr id="25" name="TextBox 24"/>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Middle 40% -&gt; 3 stars</a:t>
            </a:r>
          </a:p>
        </p:txBody>
      </p:sp>
      <p:sp>
        <p:nvSpPr>
          <p:cNvPr id="26" name="TextBox 25"/>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Next 20% -&gt; 2 stars</a:t>
            </a:r>
          </a:p>
        </p:txBody>
      </p:sp>
      <p:sp>
        <p:nvSpPr>
          <p:cNvPr id="27" name="TextBox 26"/>
          <p:cNvSpPr txBox="1"/>
          <p:nvPr/>
        </p:nvSpPr>
        <p:spPr>
          <a:xfrm>
            <a:off x="6126480" y="4983480"/>
            <a:ext cx="5486400" cy="274320"/>
          </a:xfrm>
          <a:prstGeom prst="rect">
            <a:avLst/>
          </a:prstGeom>
          <a:noFill/>
        </p:spPr>
        <p:txBody>
          <a:bodyPr wrap="square">
            <a:spAutoFit/>
          </a:bodyPr>
          <a:lstStyle/>
          <a:p>
            <a:pPr algn="l"/>
            <a:r>
              <a:rPr sz="1150" b="0">
                <a:solidFill>
                  <a:srgbClr val="E2E8F0"/>
                </a:solidFill>
                <a:latin typeface="Calibri"/>
              </a:rPr>
              <a:t>  Bottom 10% -&gt; 1 star</a:t>
            </a:r>
          </a:p>
        </p:txBody>
      </p:sp>
      <p:sp>
        <p:nvSpPr>
          <p:cNvPr id="28" name="TextBox 27"/>
          <p:cNvSpPr txBox="1"/>
          <p:nvPr/>
        </p:nvSpPr>
        <p:spPr>
          <a:xfrm>
            <a:off x="6126480" y="5257800"/>
            <a:ext cx="5486400" cy="274320"/>
          </a:xfrm>
          <a:prstGeom prst="rect">
            <a:avLst/>
          </a:prstGeom>
          <a:noFill/>
        </p:spPr>
        <p:txBody>
          <a:bodyPr wrap="square">
            <a:spAutoFit/>
          </a:bodyPr>
          <a:lstStyle/>
          <a:p>
            <a:pPr algn="l"/>
            <a:r>
              <a:rPr sz="1150" b="0">
                <a:solidFill>
                  <a:srgbClr val="E2E8F0"/>
                </a:solidFill>
                <a:latin typeface="Calibri"/>
              </a:rPr>
              <a:t>  Also outputs: confidence score (0-1)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#20</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Team Analytics (Composite)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Team dashboards, manager analytics, HR oversight</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Provides a statistical profile of a team: average performance, spread, fairness of distribution, and whether the team is improving or declining. Uses 5 different statistical measures.</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scores = array of all team member scores</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historical = past team averages over time</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Minimum 2 members required</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TeamProfile = {
  avg: mean(scores),
  spread: stddev(scores),
  entropy: shannon(rating_distribution),
  gini: gini_coefficient(scores),
  trend: linear_regression(historical).slope
}</a:t>
            </a:r>
          </a:p>
        </p:txBody>
      </p:sp>
      <p:sp>
        <p:nvSpPr>
          <p:cNvPr id="17" name="Rectangle 16"/>
          <p:cNvSpPr/>
          <p:nvPr/>
        </p:nvSpPr>
        <p:spPr>
          <a:xfrm>
            <a:off x="5943600" y="3200400"/>
            <a:ext cx="5852160" cy="2304288"/>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Average: team health indicator</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Spread &lt; 10: Consistent team</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Spread &gt; 25: High variance (investigate)</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Entropy &lt; 0.3: Rating clustering (lazy manager?)</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Gini &gt; 0.4: Inequality concern</a:t>
            </a:r>
          </a:p>
        </p:txBody>
      </p:sp>
      <p:sp>
        <p:nvSpPr>
          <p:cNvPr id="24" name="TextBox 23"/>
          <p:cNvSpPr txBox="1"/>
          <p:nvPr/>
        </p:nvSpPr>
        <p:spPr>
          <a:xfrm>
            <a:off x="6126480" y="4983480"/>
            <a:ext cx="5486400" cy="274320"/>
          </a:xfrm>
          <a:prstGeom prst="rect">
            <a:avLst/>
          </a:prstGeom>
          <a:noFill/>
        </p:spPr>
        <p:txBody>
          <a:bodyPr wrap="square">
            <a:spAutoFit/>
          </a:bodyPr>
          <a:lstStyle/>
          <a:p>
            <a:pPr algn="l"/>
            <a:r>
              <a:rPr sz="1150" b="0">
                <a:solidFill>
                  <a:srgbClr val="E2E8F0"/>
                </a:solidFill>
                <a:latin typeface="Calibri"/>
              </a:rPr>
              <a:t>  Trend slope &gt; 0: Team improving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#21</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Goal Risk Assessment (Composite)</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Goal dashboards, manager alerts, risk heatmaps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Predicts the probability of a goal failing. Combines 4 risk factors into one 0-100 risk score. Higher = more likely to miss. Triggers early warnings for at-risk goals.</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Schedule = sigmoid of (expected - actual progress)</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Velocity = sigmoid of (required pace / current pace)</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Dependency = mean + max of dependent goal risks</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Complexity = (complexity/5) * remaining%</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Weights: Schedule 40%, Velocity 30%, Dependency 15%, Complexity 15%</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Risk = 0.40*Schedule + 0.30*Velocity + 0.15*Dependency + 0.15*Complexity</a:t>
            </a:r>
          </a:p>
        </p:txBody>
      </p:sp>
      <p:sp>
        <p:nvSpPr>
          <p:cNvPr id="19" name="Rectangle 18"/>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 risk score</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CRITICAL &gt;= 75: Likely to fail, escalate now</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HIGH 50-74: At risk, needs intervention</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MEDIUM 25-49: Monitor closely</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LOW &lt; 25: On track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#22</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Review Rating Calibration</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Used in: CPIS Review Quality Score, calibration sessions</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Removes reviewer bias using Z-score normalization. Some managers rate everyone high (lenient), others rate everyone low (strict). This formula "translates" ratings to a common scale.</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rating = original rating given (1-5)</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reviewer_mean = this reviewer's average</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reviewer_stddev = this reviewer's spread</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global_mean = everyone's average</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global_stddev = everyone's spread</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z = (rating - reviewer_mean) / reviewer_stddev
calibrated = z * global_stddev + global_mean
Result = clamp(calibrated, 1, 5)</a:t>
            </a:r>
          </a:p>
        </p:txBody>
      </p:sp>
      <p:sp>
        <p:nvSpPr>
          <p:cNvPr id="19" name="Rectangle 18"/>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Calibrated rating (1-5)</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Strict reviewer's 3.0 -&gt; might become 3.8</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Lenient reviewer's 4.5 -&gt; might become 3.7</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Fair reviewers: minimal change</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Ensures cross-team fairness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371600" y="1828800"/>
            <a:ext cx="9144000" cy="914400"/>
          </a:xfrm>
          <a:prstGeom prst="rect">
            <a:avLst/>
          </a:prstGeom>
          <a:noFill/>
        </p:spPr>
        <p:txBody>
          <a:bodyPr wrap="square">
            <a:spAutoFit/>
          </a:bodyPr>
          <a:lstStyle/>
          <a:p>
            <a:pPr algn="ctr"/>
            <a:r>
              <a:rPr sz="4000" b="1">
                <a:solidFill>
                  <a:srgbClr val="22C55E"/>
                </a:solidFill>
                <a:latin typeface="Calibri"/>
              </a:rPr>
              <a:t>CPIS: 8 Dimensions</a:t>
            </a:r>
          </a:p>
        </p:txBody>
      </p:sp>
      <p:sp>
        <p:nvSpPr>
          <p:cNvPr id="3" name="TextBox 2"/>
          <p:cNvSpPr txBox="1"/>
          <p:nvPr/>
        </p:nvSpPr>
        <p:spPr>
          <a:xfrm>
            <a:off x="1371600" y="2926080"/>
            <a:ext cx="9144000" cy="548640"/>
          </a:xfrm>
          <a:prstGeom prst="rect">
            <a:avLst/>
          </a:prstGeom>
          <a:noFill/>
        </p:spPr>
        <p:txBody>
          <a:bodyPr wrap="square">
            <a:spAutoFit/>
          </a:bodyPr>
          <a:lstStyle/>
          <a:p>
            <a:pPr algn="ctr"/>
            <a:r>
              <a:rPr sz="2000" b="0">
                <a:solidFill>
                  <a:srgbClr val="FFFFFF"/>
                </a:solidFill>
                <a:latin typeface="Calibri"/>
              </a:rPr>
              <a:t>Comprehensive Performance Intelligence Score</a:t>
            </a:r>
          </a:p>
        </p:txBody>
      </p:sp>
      <p:sp>
        <p:nvSpPr>
          <p:cNvPr id="4" name="TextBox 3"/>
          <p:cNvSpPr txBox="1"/>
          <p:nvPr/>
        </p:nvSpPr>
        <p:spPr>
          <a:xfrm>
            <a:off x="1371600" y="3840480"/>
            <a:ext cx="9144000" cy="548640"/>
          </a:xfrm>
          <a:prstGeom prst="rect">
            <a:avLst/>
          </a:prstGeom>
          <a:noFill/>
        </p:spPr>
        <p:txBody>
          <a:bodyPr wrap="square">
            <a:spAutoFit/>
          </a:bodyPr>
          <a:lstStyle/>
          <a:p>
            <a:pPr algn="ctr"/>
            <a:r>
              <a:rPr sz="1600" b="1">
                <a:solidFill>
                  <a:srgbClr val="14B8A6"/>
                </a:solidFill>
                <a:latin typeface="Calibri"/>
              </a:rPr>
              <a:t>Final Score = Sum(Dimension * Weight) * TenureFactor * FairnessAdjustment</a:t>
            </a:r>
          </a:p>
        </p:txBody>
      </p:sp>
      <p:sp>
        <p:nvSpPr>
          <p:cNvPr id="5" name="TextBox 4"/>
          <p:cNvSpPr txBox="1"/>
          <p:nvPr/>
        </p:nvSpPr>
        <p:spPr>
          <a:xfrm>
            <a:off x="1371600" y="4754880"/>
            <a:ext cx="9144000" cy="548640"/>
          </a:xfrm>
          <a:prstGeom prst="rect">
            <a:avLst/>
          </a:prstGeom>
          <a:noFill/>
        </p:spPr>
        <p:txBody>
          <a:bodyPr wrap="square">
            <a:spAutoFit/>
          </a:bodyPr>
          <a:lstStyle/>
          <a:p>
            <a:pPr algn="ctr"/>
            <a:r>
              <a:rPr sz="1400" b="0">
                <a:solidFill>
                  <a:srgbClr val="94A3B8"/>
                </a:solidFill>
                <a:latin typeface="Calibri"/>
              </a:rPr>
              <a:t>Output: 0-100 Score | Letter Grade (A+ to F) | Star Rating (1-5) | Rank Label | Confidence Interval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#D1</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1: Goal Attainment Index (GAI) — 25%</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25%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how well goals are being completed. Factors in completion progress, priority level, timeliness, and alignment to company objectives. The heaviest weighted dimension.</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Gi = goal progress (0-100)</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Wi = goal weight (importance)</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Pi = priority multiplier: LOW=0.85, MED=1.0, HIGH=1.15, CRITICAL=1.35</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Ti = timeliness: boundedSigmoid(-daysLate, 0.6, 1.4)</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Ai = alignment bonus: 1 + depth*0.03 (max 1.15)</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GAI = Sum(Gi * Wi * Pi * Ti * Ai) / Sum(Wi)</a:t>
            </a:r>
          </a:p>
        </p:txBody>
      </p:sp>
      <p:sp>
        <p:nvSpPr>
          <p:cNvPr id="19" name="Rectangle 18"/>
          <p:cNvSpPr/>
          <p:nvPr/>
        </p:nvSpPr>
        <p:spPr>
          <a:xfrm>
            <a:off x="5943600" y="3200400"/>
            <a:ext cx="5852160" cy="2304288"/>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90+: Exceptional goal delivery</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70-89: Strong attainment</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50-69: Meets expectations</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&lt; 50: Below expectations</a:t>
            </a:r>
          </a:p>
        </p:txBody>
      </p:sp>
      <p:sp>
        <p:nvSpPr>
          <p:cNvPr id="26" name="TextBox 25"/>
          <p:cNvSpPr txBox="1"/>
          <p:nvPr/>
        </p:nvSpPr>
        <p:spPr>
          <a:xfrm>
            <a:off x="6126480" y="4983480"/>
            <a:ext cx="5486400" cy="274320"/>
          </a:xfrm>
          <a:prstGeom prst="rect">
            <a:avLst/>
          </a:prstGeom>
          <a:noFill/>
        </p:spPr>
        <p:txBody>
          <a:bodyPr wrap="square">
            <a:spAutoFit/>
          </a:bodyPr>
          <a:lstStyle/>
          <a:p>
            <a:pPr algn="l"/>
            <a:r>
              <a:rPr sz="1150" b="0">
                <a:solidFill>
                  <a:srgbClr val="E2E8F0"/>
                </a:solidFill>
                <a:latin typeface="Calibri"/>
              </a:rPr>
              <a:t>  Sub-metrics: completion rate, on-time rate, aligned goals count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#D2</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2: Review Quality Score (RQS) — 20%</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20%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Combines all review ratings with bias correction. Uses weighted harmonic mean (fairer than arithmetic mean). Adjusts for reviewer trust, review type, and detected bias.</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Ri = calibrated rating (1-5)</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Bi = bias score (0-1), penalizes up to 50%</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Ti = reviewer trust (0-1)</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TypeW: Manager=1.5, 360=1.3, Peer=1.0, Upward=0.9, Self=0.5</a:t>
            </a:r>
          </a:p>
        </p:txBody>
      </p:sp>
      <p:sp>
        <p:nvSpPr>
          <p:cNvPr id="15" name="Rectangle 14"/>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7" name="TextBox 16"/>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RQS = WHM(Ri * (1 - Bi), Ti * TypeWi) * 100 / 5
Default: 50 if no reviews (neutral)</a:t>
            </a:r>
          </a:p>
        </p:txBody>
      </p:sp>
      <p:sp>
        <p:nvSpPr>
          <p:cNvPr id="18" name="Rectangle 17"/>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0" name="TextBox 19"/>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1" name="TextBox 20"/>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Manager reviews count 3x more than self-reviews</a:t>
            </a:r>
          </a:p>
        </p:txBody>
      </p:sp>
      <p:sp>
        <p:nvSpPr>
          <p:cNvPr id="22" name="TextBox 21"/>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Bias &gt; 0.3 triggers penalty</a:t>
            </a:r>
          </a:p>
        </p:txBody>
      </p:sp>
      <p:sp>
        <p:nvSpPr>
          <p:cNvPr id="23" name="TextBox 22"/>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Default 50 = not penalized for no reviews</a:t>
            </a:r>
          </a:p>
        </p:txBody>
      </p:sp>
      <p:sp>
        <p:nvSpPr>
          <p:cNvPr id="24" name="TextBox 23"/>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Sub-metrics: raw avg, calibrated avg, trust-weighted avg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#D3</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3: Feedback Sentiment Index (FSI) — 12%</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12%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Tracks the tone of feedback received over time. Uses EWMA so recent feedback counts more. Quality bonus for well-tagged feedback (with skill/value tags).</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Si = sentiment score (0-1, from NLP analysis)</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Qi = quality multiplier: base 1.0, +0.1 for skill tags, +0.1 for value tags</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alpha = 0.35 (recency weight)</a:t>
            </a:r>
          </a:p>
        </p:txBody>
      </p:sp>
      <p:sp>
        <p:nvSpPr>
          <p:cNvPr id="14" name="Rectangle 13"/>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6" name="TextBox 15"/>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FSI = EWMA(Si * Qi, alpha=0.35) * 100
Default: 50 if no feedback</a:t>
            </a:r>
          </a:p>
        </p:txBody>
      </p:sp>
      <p:sp>
        <p:nvSpPr>
          <p:cNvPr id="17" name="Rectangle 16"/>
          <p:cNvSpPr/>
          <p:nvPr/>
        </p:nvSpPr>
        <p:spPr>
          <a:xfrm>
            <a:off x="5943600" y="3200400"/>
            <a:ext cx="5852160" cy="2304288"/>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19" name="TextBox 18"/>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0" name="TextBox 19"/>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80+: Overwhelmingly positive feedback</a:t>
            </a:r>
          </a:p>
        </p:txBody>
      </p:sp>
      <p:sp>
        <p:nvSpPr>
          <p:cNvPr id="21" name="TextBox 20"/>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60-79: Mostly positive</a:t>
            </a:r>
          </a:p>
        </p:txBody>
      </p:sp>
      <p:sp>
        <p:nvSpPr>
          <p:cNvPr id="22" name="TextBox 21"/>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40-59: Mixed or neutral</a:t>
            </a:r>
          </a:p>
        </p:txBody>
      </p:sp>
      <p:sp>
        <p:nvSpPr>
          <p:cNvPr id="23" name="TextBox 22"/>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&lt; 40: Mostly negative feedback</a:t>
            </a:r>
          </a:p>
        </p:txBody>
      </p:sp>
      <p:sp>
        <p:nvSpPr>
          <p:cNvPr id="24" name="TextBox 23"/>
          <p:cNvSpPr txBox="1"/>
          <p:nvPr/>
        </p:nvSpPr>
        <p:spPr>
          <a:xfrm>
            <a:off x="6126480" y="4983480"/>
            <a:ext cx="5486400" cy="274320"/>
          </a:xfrm>
          <a:prstGeom prst="rect">
            <a:avLst/>
          </a:prstGeom>
          <a:noFill/>
        </p:spPr>
        <p:txBody>
          <a:bodyPr wrap="square">
            <a:spAutoFit/>
          </a:bodyPr>
          <a:lstStyle/>
          <a:p>
            <a:pPr algn="l"/>
            <a:r>
              <a:rPr sz="1150" b="0">
                <a:solidFill>
                  <a:srgbClr val="E2E8F0"/>
                </a:solidFill>
                <a:latin typeface="Calibri"/>
              </a:rPr>
              <a:t>  Sub-metrics: praise ratio, feedback count, quality multiplier avg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#D4</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4: Collaboration Impact Score (CIS) — 10%</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10%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how much someone collaborates across the organization. Tracks 6 channels of collaboration, each converted to 0-100 via sigmoid curves.</a:t>
            </a:r>
          </a:p>
        </p:txBody>
      </p:sp>
      <p:sp>
        <p:nvSpPr>
          <p:cNvPr id="9" name="Rectangle 8"/>
          <p:cNvSpPr/>
          <p:nvPr/>
        </p:nvSpPr>
        <p:spPr>
          <a:xfrm>
            <a:off x="365760" y="2743200"/>
            <a:ext cx="5303520" cy="2697479"/>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6 channels, each via boundedSigmoid(count, 0, 100, k, x0):</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Cross-functional goals (w=0.20, x0=3)</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Feedback given (w=0.15, x0=5)</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Feedback received (w=0.15, x0=5)</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1-on-1 meetings (w=0.15, x0=4)</a:t>
            </a:r>
          </a:p>
        </p:txBody>
      </p:sp>
      <p:sp>
        <p:nvSpPr>
          <p:cNvPr id="16" name="TextBox 15"/>
          <p:cNvSpPr txBox="1"/>
          <p:nvPr/>
        </p:nvSpPr>
        <p:spPr>
          <a:xfrm>
            <a:off x="548640" y="4617720"/>
            <a:ext cx="4937760" cy="274320"/>
          </a:xfrm>
          <a:prstGeom prst="rect">
            <a:avLst/>
          </a:prstGeom>
          <a:noFill/>
        </p:spPr>
        <p:txBody>
          <a:bodyPr wrap="square">
            <a:spAutoFit/>
          </a:bodyPr>
          <a:lstStyle/>
          <a:p>
            <a:pPr algn="l"/>
            <a:r>
              <a:rPr sz="1150" b="0">
                <a:solidFill>
                  <a:srgbClr val="E2E8F0"/>
                </a:solidFill>
                <a:latin typeface="Calibri"/>
              </a:rPr>
              <a:t>    Recognitions given (w=0.15, x0=3)</a:t>
            </a:r>
          </a:p>
        </p:txBody>
      </p:sp>
      <p:sp>
        <p:nvSpPr>
          <p:cNvPr id="17" name="TextBox 16"/>
          <p:cNvSpPr txBox="1"/>
          <p:nvPr/>
        </p:nvSpPr>
        <p:spPr>
          <a:xfrm>
            <a:off x="548640" y="4910328"/>
            <a:ext cx="4937760" cy="274320"/>
          </a:xfrm>
          <a:prstGeom prst="rect">
            <a:avLst/>
          </a:prstGeom>
          <a:noFill/>
        </p:spPr>
        <p:txBody>
          <a:bodyPr wrap="square">
            <a:spAutoFit/>
          </a:bodyPr>
          <a:lstStyle/>
          <a:p>
            <a:pPr algn="l"/>
            <a:r>
              <a:rPr sz="1150" b="0">
                <a:solidFill>
                  <a:srgbClr val="E2E8F0"/>
                </a:solidFill>
                <a:latin typeface="Calibri"/>
              </a:rPr>
              <a:t>    Team contributions (w=0.20, x0=2)</a:t>
            </a:r>
          </a:p>
        </p:txBody>
      </p:sp>
      <p:sp>
        <p:nvSpPr>
          <p:cNvPr id="18" name="Rectangle 17"/>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20" name="TextBox 19"/>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CIS = WeightedMean(6 sigmoid-normalized channels)
Excluded if total collab &lt; 12 activities</a:t>
            </a:r>
          </a:p>
        </p:txBody>
      </p:sp>
      <p:sp>
        <p:nvSpPr>
          <p:cNvPr id="21" name="Rectangle 20"/>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3" name="TextBox 22"/>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4" name="TextBox 23"/>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80+: Highly collaborative</a:t>
            </a:r>
          </a:p>
        </p:txBody>
      </p:sp>
      <p:sp>
        <p:nvSpPr>
          <p:cNvPr id="25" name="TextBox 24"/>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50-79: Active collaborator</a:t>
            </a:r>
          </a:p>
        </p:txBody>
      </p:sp>
      <p:sp>
        <p:nvSpPr>
          <p:cNvPr id="26" name="TextBox 25"/>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&lt; 50: Could collaborate more</a:t>
            </a:r>
          </a:p>
        </p:txBody>
      </p:sp>
      <p:sp>
        <p:nvSpPr>
          <p:cNvPr id="27" name="TextBox 26"/>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Excluded (redistributed) if too sparse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#D5</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5: Consistency &amp; Reliability Index (CRI) — 10%</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10%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reliability: on-time delivery, steady velocity (no wild swings), streak of active days, consistent ratings, and deadline adherence.</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OnTimeRate = on-time deliveries / total deliveries * 100</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VelocityConsistency = max(0, (1 - variance/50) * 100)</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StreakFactor = sigmoid(streakDays, k=0.1, x0=14) * 100</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RatingConsistency = max(0, (1 - stddev/2) * 100)</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DeadlineScore = (total - missed) / total * 100</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CRI = 0.30*OnTime + 0.25*Velocity + 0.20*Streak + 0.15*Rating + 0.10*Deadline</a:t>
            </a:r>
          </a:p>
        </p:txBody>
      </p:sp>
      <p:sp>
        <p:nvSpPr>
          <p:cNvPr id="19" name="Rectangle 18"/>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85+: Extremely reliable</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70-84: Dependable</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50-69: Somewhat consistent</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&lt; 50: Inconsistent (flag for coaching)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#D6</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6: Growth Trajectory Score (GTS) — 8%</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8%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Measures improvement over time. Uses linear regression on historical scores to detect if someone is getting better, staying flat, or declining. Also tracks skills, training, and development plans.</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TrendScore = sigmoid(regression_slope, k=0.5, x0=0) * 100</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SkillGrowth = sigmoid(progressions, k=0.5, x0=3) * 100</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TrainingScore = sigmoid(completions, k=0.5, x0=2) * 100</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DevPlanProgress = direct 0-100</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ReadinessScore = promotion readiness 0-100</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GTS = 0.35*Trend + 0.20*Skill + 0.15*Training + 0.15*DevPlan + 0.15*Readiness</a:t>
            </a:r>
          </a:p>
        </p:txBody>
      </p:sp>
      <p:sp>
        <p:nvSpPr>
          <p:cNvPr id="19" name="Rectangle 18"/>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slope &gt; 0: Improving (score rises)</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slope = 0: Stable</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slope &lt; 0: Declining (concerning)</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Default 50 if no historical data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#D7</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7: Evidence Quality Score (EQS) — 8%</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8%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Scores the quality and diversity of work evidence submitted. Rewards verified evidence with measurable impact. Encourages submitting different types of proof.</a:t>
            </a:r>
          </a:p>
        </p:txBody>
      </p:sp>
      <p:sp>
        <p:nvSpPr>
          <p:cNvPr id="9" name="Rectangle 8"/>
          <p:cNvSpPr/>
          <p:nvPr/>
        </p:nvSpPr>
        <p:spPr>
          <a:xfrm>
            <a:off x="365760" y="2743200"/>
            <a:ext cx="5303520" cy="18288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VerificationRate = verified / total * 100</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AvgImpact = mean of impact scores (0-100)</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AvgQuality = mean of quality scores (0-100)</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DiversityBonus = sigmoid(types_count, k=0.5, x0=3) * 100</a:t>
            </a:r>
          </a:p>
        </p:txBody>
      </p:sp>
      <p:sp>
        <p:nvSpPr>
          <p:cNvPr id="15" name="Rectangle 14"/>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7" name="TextBox 16"/>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EQS = 0.25*Verification + 0.30*Impact + 0.25*Quality + 0.20*Diversity</a:t>
            </a:r>
          </a:p>
        </p:txBody>
      </p:sp>
      <p:sp>
        <p:nvSpPr>
          <p:cNvPr id="18" name="Rectangle 17"/>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0" name="TextBox 19"/>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1" name="TextBox 20"/>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Default: 50 if no evidence (neutral)</a:t>
            </a:r>
          </a:p>
        </p:txBody>
      </p:sp>
      <p:sp>
        <p:nvSpPr>
          <p:cNvPr id="22" name="TextBox 21"/>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80+: Strong, verified, diverse evidence</a:t>
            </a:r>
          </a:p>
        </p:txBody>
      </p:sp>
      <p:sp>
        <p:nvSpPr>
          <p:cNvPr id="23" name="TextBox 22"/>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50-79: Some evidence submitted</a:t>
            </a:r>
          </a:p>
        </p:txBody>
      </p:sp>
      <p:sp>
        <p:nvSpPr>
          <p:cNvPr id="24" name="TextBox 23"/>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&lt; 50: Weak evidence portfolio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
            <a:ext cx="914400" cy="457200"/>
          </a:xfrm>
          <a:prstGeom prst="rect">
            <a:avLst/>
          </a:prstGeom>
          <a:noFill/>
        </p:spPr>
        <p:txBody>
          <a:bodyPr wrap="square">
            <a:spAutoFit/>
          </a:bodyPr>
          <a:lstStyle/>
          <a:p>
            <a:pPr algn="l"/>
            <a:r>
              <a:rPr sz="2800" b="1">
                <a:solidFill>
                  <a:srgbClr val="6D28D9"/>
                </a:solidFill>
                <a:latin typeface="Calibri"/>
              </a:rPr>
              <a:t>#D8</a:t>
            </a:r>
          </a:p>
        </p:txBody>
      </p:sp>
      <p:sp>
        <p:nvSpPr>
          <p:cNvPr id="4" name="TextBox 3"/>
          <p:cNvSpPr txBox="1"/>
          <p:nvPr/>
        </p:nvSpPr>
        <p:spPr>
          <a:xfrm>
            <a:off x="1371600" y="91440"/>
            <a:ext cx="9144000" cy="457200"/>
          </a:xfrm>
          <a:prstGeom prst="rect">
            <a:avLst/>
          </a:prstGeom>
          <a:noFill/>
        </p:spPr>
        <p:txBody>
          <a:bodyPr wrap="square">
            <a:spAutoFit/>
          </a:bodyPr>
          <a:lstStyle/>
          <a:p>
            <a:pPr algn="l"/>
            <a:r>
              <a:rPr sz="2600" b="1">
                <a:solidFill>
                  <a:srgbClr val="FFFFFF"/>
                </a:solidFill>
                <a:latin typeface="Calibri"/>
              </a:rPr>
              <a:t>CPIS Dimension 8: Initiative &amp; Innovation Index (III) — 7%</a:t>
            </a:r>
          </a:p>
        </p:txBody>
      </p:sp>
      <p:sp>
        <p:nvSpPr>
          <p:cNvPr id="5" name="TextBox 4"/>
          <p:cNvSpPr txBox="1"/>
          <p:nvPr/>
        </p:nvSpPr>
        <p:spPr>
          <a:xfrm>
            <a:off x="1371600" y="548640"/>
            <a:ext cx="9144000" cy="365760"/>
          </a:xfrm>
          <a:prstGeom prst="rect">
            <a:avLst/>
          </a:prstGeom>
          <a:noFill/>
        </p:spPr>
        <p:txBody>
          <a:bodyPr wrap="square">
            <a:spAutoFit/>
          </a:bodyPr>
          <a:lstStyle/>
          <a:p>
            <a:pPr algn="l"/>
            <a:r>
              <a:rPr sz="1200" b="0">
                <a:solidFill>
                  <a:srgbClr val="94A3B8"/>
                </a:solidFill>
                <a:latin typeface="Calibri"/>
              </a:rPr>
              <a:t>Weight: 7% of final CPIS score</a:t>
            </a:r>
          </a:p>
        </p:txBody>
      </p:sp>
      <p:sp>
        <p:nvSpPr>
          <p:cNvPr id="6" name="Rectangle 5"/>
          <p:cNvSpPr/>
          <p:nvPr/>
        </p:nvSpPr>
        <p:spPr>
          <a:xfrm>
            <a:off x="365760" y="1188720"/>
            <a:ext cx="5303520" cy="1371600"/>
          </a:xfrm>
          <a:prstGeom prst="rect">
            <a:avLst/>
          </a:prstGeom>
          <a:solidFill>
            <a:srgbClr val="33405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4937760" cy="320040"/>
          </a:xfrm>
          <a:prstGeom prst="rect">
            <a:avLst/>
          </a:prstGeom>
          <a:noFill/>
        </p:spPr>
        <p:txBody>
          <a:bodyPr wrap="square">
            <a:spAutoFit/>
          </a:bodyPr>
          <a:lstStyle/>
          <a:p>
            <a:pPr algn="l"/>
            <a:r>
              <a:rPr sz="1100" b="1">
                <a:solidFill>
                  <a:srgbClr val="14B8A6"/>
                </a:solidFill>
                <a:latin typeface="Calibri"/>
              </a:rPr>
              <a:t>WHAT IT MEASURES</a:t>
            </a:r>
          </a:p>
        </p:txBody>
      </p:sp>
      <p:sp>
        <p:nvSpPr>
          <p:cNvPr id="8" name="TextBox 7"/>
          <p:cNvSpPr txBox="1"/>
          <p:nvPr/>
        </p:nvSpPr>
        <p:spPr>
          <a:xfrm>
            <a:off x="548640" y="1554480"/>
            <a:ext cx="4937760" cy="914400"/>
          </a:xfrm>
          <a:prstGeom prst="rect">
            <a:avLst/>
          </a:prstGeom>
          <a:noFill/>
        </p:spPr>
        <p:txBody>
          <a:bodyPr wrap="square">
            <a:spAutoFit/>
          </a:bodyPr>
          <a:lstStyle/>
          <a:p>
            <a:pPr algn="l"/>
            <a:r>
              <a:rPr sz="1300" b="0">
                <a:solidFill>
                  <a:srgbClr val="E2E8F0"/>
                </a:solidFill>
                <a:latin typeface="Calibri"/>
              </a:rPr>
              <a:t>Rewards going above and beyond: innovation contributions, mentoring, knowledge sharing, process improvements, and voluntary goals. Each measured via sigmoid curves.</a:t>
            </a:r>
          </a:p>
        </p:txBody>
      </p:sp>
      <p:sp>
        <p:nvSpPr>
          <p:cNvPr id="9" name="Rectangle 8"/>
          <p:cNvSpPr/>
          <p:nvPr/>
        </p:nvSpPr>
        <p:spPr>
          <a:xfrm>
            <a:off x="365760" y="2743200"/>
            <a:ext cx="5303520" cy="2057400"/>
          </a:xfrm>
          <a:prstGeom prst="rect">
            <a:avLst/>
          </a:prstGeom>
          <a:solidFill>
            <a:srgbClr val="33405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4937760" cy="320040"/>
          </a:xfrm>
          <a:prstGeom prst="rect">
            <a:avLst/>
          </a:prstGeom>
          <a:noFill/>
        </p:spPr>
        <p:txBody>
          <a:bodyPr wrap="square">
            <a:spAutoFit/>
          </a:bodyPr>
          <a:lstStyle/>
          <a:p>
            <a:pPr algn="l"/>
            <a:r>
              <a:rPr sz="1100" b="1">
                <a:solidFill>
                  <a:srgbClr val="F59E0B"/>
                </a:solidFill>
                <a:latin typeface="Calibri"/>
              </a:rPr>
              <a:t>PARAMETERS</a:t>
            </a:r>
          </a:p>
        </p:txBody>
      </p:sp>
      <p:sp>
        <p:nvSpPr>
          <p:cNvPr id="11" name="TextBox 10"/>
          <p:cNvSpPr txBox="1"/>
          <p:nvPr/>
        </p:nvSpPr>
        <p:spPr>
          <a:xfrm>
            <a:off x="548640" y="3154680"/>
            <a:ext cx="4937760" cy="274320"/>
          </a:xfrm>
          <a:prstGeom prst="rect">
            <a:avLst/>
          </a:prstGeom>
          <a:noFill/>
        </p:spPr>
        <p:txBody>
          <a:bodyPr wrap="square">
            <a:spAutoFit/>
          </a:bodyPr>
          <a:lstStyle/>
          <a:p>
            <a:pPr algn="l"/>
            <a:r>
              <a:rPr sz="1150" b="0">
                <a:solidFill>
                  <a:srgbClr val="E2E8F0"/>
                </a:solidFill>
                <a:latin typeface="Calibri"/>
              </a:rPr>
              <a:t>  Innovation = sigmoid(contributions, k=0.6, x0=2) * 100</a:t>
            </a:r>
          </a:p>
        </p:txBody>
      </p:sp>
      <p:sp>
        <p:nvSpPr>
          <p:cNvPr id="12" name="TextBox 11"/>
          <p:cNvSpPr txBox="1"/>
          <p:nvPr/>
        </p:nvSpPr>
        <p:spPr>
          <a:xfrm>
            <a:off x="548640" y="3447288"/>
            <a:ext cx="4937760" cy="274320"/>
          </a:xfrm>
          <a:prstGeom prst="rect">
            <a:avLst/>
          </a:prstGeom>
          <a:noFill/>
        </p:spPr>
        <p:txBody>
          <a:bodyPr wrap="square">
            <a:spAutoFit/>
          </a:bodyPr>
          <a:lstStyle/>
          <a:p>
            <a:pPr algn="l"/>
            <a:r>
              <a:rPr sz="1150" b="0">
                <a:solidFill>
                  <a:srgbClr val="E2E8F0"/>
                </a:solidFill>
                <a:latin typeface="Calibri"/>
              </a:rPr>
              <a:t>  Mentoring = sigmoid(sessions, k=0.4, x0=3) * 100</a:t>
            </a:r>
          </a:p>
        </p:txBody>
      </p:sp>
      <p:sp>
        <p:nvSpPr>
          <p:cNvPr id="13" name="TextBox 12"/>
          <p:cNvSpPr txBox="1"/>
          <p:nvPr/>
        </p:nvSpPr>
        <p:spPr>
          <a:xfrm>
            <a:off x="548640" y="3739896"/>
            <a:ext cx="4937760" cy="274320"/>
          </a:xfrm>
          <a:prstGeom prst="rect">
            <a:avLst/>
          </a:prstGeom>
          <a:noFill/>
        </p:spPr>
        <p:txBody>
          <a:bodyPr wrap="square">
            <a:spAutoFit/>
          </a:bodyPr>
          <a:lstStyle/>
          <a:p>
            <a:pPr algn="l"/>
            <a:r>
              <a:rPr sz="1150" b="0">
                <a:solidFill>
                  <a:srgbClr val="E2E8F0"/>
                </a:solidFill>
                <a:latin typeface="Calibri"/>
              </a:rPr>
              <a:t>  Knowledge = sigmoid(sharing, k=0.5, x0=2) * 100</a:t>
            </a:r>
          </a:p>
        </p:txBody>
      </p:sp>
      <p:sp>
        <p:nvSpPr>
          <p:cNvPr id="14" name="TextBox 13"/>
          <p:cNvSpPr txBox="1"/>
          <p:nvPr/>
        </p:nvSpPr>
        <p:spPr>
          <a:xfrm>
            <a:off x="548640" y="4032504"/>
            <a:ext cx="4937760" cy="274320"/>
          </a:xfrm>
          <a:prstGeom prst="rect">
            <a:avLst/>
          </a:prstGeom>
          <a:noFill/>
        </p:spPr>
        <p:txBody>
          <a:bodyPr wrap="square">
            <a:spAutoFit/>
          </a:bodyPr>
          <a:lstStyle/>
          <a:p>
            <a:pPr algn="l"/>
            <a:r>
              <a:rPr sz="1150" b="0">
                <a:solidFill>
                  <a:srgbClr val="E2E8F0"/>
                </a:solidFill>
                <a:latin typeface="Calibri"/>
              </a:rPr>
              <a:t>  Process = sigmoid(improvements, k=0.6, x0=1) * 100</a:t>
            </a:r>
          </a:p>
        </p:txBody>
      </p:sp>
      <p:sp>
        <p:nvSpPr>
          <p:cNvPr id="15" name="TextBox 14"/>
          <p:cNvSpPr txBox="1"/>
          <p:nvPr/>
        </p:nvSpPr>
        <p:spPr>
          <a:xfrm>
            <a:off x="548640" y="4325112"/>
            <a:ext cx="4937760" cy="274320"/>
          </a:xfrm>
          <a:prstGeom prst="rect">
            <a:avLst/>
          </a:prstGeom>
          <a:noFill/>
        </p:spPr>
        <p:txBody>
          <a:bodyPr wrap="square">
            <a:spAutoFit/>
          </a:bodyPr>
          <a:lstStyle/>
          <a:p>
            <a:pPr algn="l"/>
            <a:r>
              <a:rPr sz="1150" b="0">
                <a:solidFill>
                  <a:srgbClr val="E2E8F0"/>
                </a:solidFill>
                <a:latin typeface="Calibri"/>
              </a:rPr>
              <a:t>  Voluntary = sigmoid(goals, k=0.5, x0=2) * 100</a:t>
            </a:r>
          </a:p>
        </p:txBody>
      </p:sp>
      <p:sp>
        <p:nvSpPr>
          <p:cNvPr id="16" name="Rectangle 15"/>
          <p:cNvSpPr/>
          <p:nvPr/>
        </p:nvSpPr>
        <p:spPr>
          <a:xfrm>
            <a:off x="5943600" y="1188720"/>
            <a:ext cx="5852160" cy="1828800"/>
          </a:xfrm>
          <a:prstGeom prst="rect">
            <a:avLst/>
          </a:prstGeom>
          <a:solidFill>
            <a:srgbClr val="1A1030"/>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234440"/>
            <a:ext cx="5486400" cy="320040"/>
          </a:xfrm>
          <a:prstGeom prst="rect">
            <a:avLst/>
          </a:prstGeom>
          <a:noFill/>
        </p:spPr>
        <p:txBody>
          <a:bodyPr wrap="square">
            <a:spAutoFit/>
          </a:bodyPr>
          <a:lstStyle/>
          <a:p>
            <a:pPr algn="l"/>
            <a:r>
              <a:rPr sz="1100" b="1">
                <a:solidFill>
                  <a:srgbClr val="6D28D9"/>
                </a:solidFill>
                <a:latin typeface="Calibri"/>
              </a:rPr>
              <a:t>FORMULA</a:t>
            </a:r>
          </a:p>
        </p:txBody>
      </p:sp>
      <p:sp>
        <p:nvSpPr>
          <p:cNvPr id="18" name="TextBox 17"/>
          <p:cNvSpPr txBox="1"/>
          <p:nvPr/>
        </p:nvSpPr>
        <p:spPr>
          <a:xfrm>
            <a:off x="6126480" y="1600200"/>
            <a:ext cx="5486400" cy="1280160"/>
          </a:xfrm>
          <a:prstGeom prst="rect">
            <a:avLst/>
          </a:prstGeom>
          <a:noFill/>
        </p:spPr>
        <p:txBody>
          <a:bodyPr wrap="square">
            <a:spAutoFit/>
          </a:bodyPr>
          <a:lstStyle/>
          <a:p>
            <a:pPr algn="l"/>
            <a:r>
              <a:rPr sz="1400" b="1">
                <a:solidFill>
                  <a:srgbClr val="FFFFFF"/>
                </a:solidFill>
                <a:latin typeface="Calibri"/>
              </a:rPr>
              <a:t>III = 0.25*Innovation + 0.20*Mentoring + 0.20*Knowledge + 0.15*Process + 0.20*Voluntary</a:t>
            </a:r>
          </a:p>
        </p:txBody>
      </p:sp>
      <p:sp>
        <p:nvSpPr>
          <p:cNvPr id="19" name="Rectangle 18"/>
          <p:cNvSpPr/>
          <p:nvPr/>
        </p:nvSpPr>
        <p:spPr>
          <a:xfrm>
            <a:off x="5943600" y="3200400"/>
            <a:ext cx="5852160" cy="2011680"/>
          </a:xfrm>
          <a:prstGeom prst="rect">
            <a:avLst/>
          </a:prstGeom>
          <a:solidFill>
            <a:srgbClr val="334055"/>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246120"/>
            <a:ext cx="5486400" cy="320040"/>
          </a:xfrm>
          <a:prstGeom prst="rect">
            <a:avLst/>
          </a:prstGeom>
          <a:noFill/>
        </p:spPr>
        <p:txBody>
          <a:bodyPr wrap="square">
            <a:spAutoFit/>
          </a:bodyPr>
          <a:lstStyle/>
          <a:p>
            <a:pPr algn="l"/>
            <a:r>
              <a:rPr sz="1100" b="1">
                <a:solidFill>
                  <a:srgbClr val="22C55E"/>
                </a:solidFill>
                <a:latin typeface="Calibri"/>
              </a:rPr>
              <a:t>RESULT &amp; THRESHOLDS</a:t>
            </a:r>
          </a:p>
        </p:txBody>
      </p:sp>
      <p:sp>
        <p:nvSpPr>
          <p:cNvPr id="21" name="TextBox 20"/>
          <p:cNvSpPr txBox="1"/>
          <p:nvPr/>
        </p:nvSpPr>
        <p:spPr>
          <a:xfrm>
            <a:off x="6126480" y="3611880"/>
            <a:ext cx="5486400" cy="274320"/>
          </a:xfrm>
          <a:prstGeom prst="rect">
            <a:avLst/>
          </a:prstGeom>
          <a:noFill/>
        </p:spPr>
        <p:txBody>
          <a:bodyPr wrap="square">
            <a:spAutoFit/>
          </a:bodyPr>
          <a:lstStyle/>
          <a:p>
            <a:pPr algn="l"/>
            <a:r>
              <a:rPr sz="1150" b="0">
                <a:solidFill>
                  <a:srgbClr val="E2E8F0"/>
                </a:solidFill>
                <a:latin typeface="Calibri"/>
              </a:rPr>
              <a:t>  Output: 0-100</a:t>
            </a:r>
          </a:p>
        </p:txBody>
      </p:sp>
      <p:sp>
        <p:nvSpPr>
          <p:cNvPr id="22" name="TextBox 21"/>
          <p:cNvSpPr txBox="1"/>
          <p:nvPr/>
        </p:nvSpPr>
        <p:spPr>
          <a:xfrm>
            <a:off x="6126480" y="3886200"/>
            <a:ext cx="5486400" cy="274320"/>
          </a:xfrm>
          <a:prstGeom prst="rect">
            <a:avLst/>
          </a:prstGeom>
          <a:noFill/>
        </p:spPr>
        <p:txBody>
          <a:bodyPr wrap="square">
            <a:spAutoFit/>
          </a:bodyPr>
          <a:lstStyle/>
          <a:p>
            <a:pPr algn="l"/>
            <a:r>
              <a:rPr sz="1150" b="0">
                <a:solidFill>
                  <a:srgbClr val="E2E8F0"/>
                </a:solidFill>
                <a:latin typeface="Calibri"/>
              </a:rPr>
              <a:t>  Excluded if no initiative data tracked</a:t>
            </a:r>
          </a:p>
        </p:txBody>
      </p:sp>
      <p:sp>
        <p:nvSpPr>
          <p:cNvPr id="23" name="TextBox 22"/>
          <p:cNvSpPr txBox="1"/>
          <p:nvPr/>
        </p:nvSpPr>
        <p:spPr>
          <a:xfrm>
            <a:off x="6126480" y="4160520"/>
            <a:ext cx="5486400" cy="274320"/>
          </a:xfrm>
          <a:prstGeom prst="rect">
            <a:avLst/>
          </a:prstGeom>
          <a:noFill/>
        </p:spPr>
        <p:txBody>
          <a:bodyPr wrap="square">
            <a:spAutoFit/>
          </a:bodyPr>
          <a:lstStyle/>
          <a:p>
            <a:pPr algn="l"/>
            <a:r>
              <a:rPr sz="1150" b="0">
                <a:solidFill>
                  <a:srgbClr val="E2E8F0"/>
                </a:solidFill>
                <a:latin typeface="Calibri"/>
              </a:rPr>
              <a:t>  80+: Highly innovative, proactive contributor</a:t>
            </a:r>
          </a:p>
        </p:txBody>
      </p:sp>
      <p:sp>
        <p:nvSpPr>
          <p:cNvPr id="24" name="TextBox 23"/>
          <p:cNvSpPr txBox="1"/>
          <p:nvPr/>
        </p:nvSpPr>
        <p:spPr>
          <a:xfrm>
            <a:off x="6126480" y="4434840"/>
            <a:ext cx="5486400" cy="274320"/>
          </a:xfrm>
          <a:prstGeom prst="rect">
            <a:avLst/>
          </a:prstGeom>
          <a:noFill/>
        </p:spPr>
        <p:txBody>
          <a:bodyPr wrap="square">
            <a:spAutoFit/>
          </a:bodyPr>
          <a:lstStyle/>
          <a:p>
            <a:pPr algn="l"/>
            <a:r>
              <a:rPr sz="1150" b="0">
                <a:solidFill>
                  <a:srgbClr val="E2E8F0"/>
                </a:solidFill>
                <a:latin typeface="Calibri"/>
              </a:rPr>
              <a:t>  50-79: Shows initiative</a:t>
            </a:r>
          </a:p>
        </p:txBody>
      </p:sp>
      <p:sp>
        <p:nvSpPr>
          <p:cNvPr id="25" name="TextBox 24"/>
          <p:cNvSpPr txBox="1"/>
          <p:nvPr/>
        </p:nvSpPr>
        <p:spPr>
          <a:xfrm>
            <a:off x="6126480" y="4709160"/>
            <a:ext cx="5486400" cy="274320"/>
          </a:xfrm>
          <a:prstGeom prst="rect">
            <a:avLst/>
          </a:prstGeom>
          <a:noFill/>
        </p:spPr>
        <p:txBody>
          <a:bodyPr wrap="square">
            <a:spAutoFit/>
          </a:bodyPr>
          <a:lstStyle/>
          <a:p>
            <a:pPr algn="l"/>
            <a:r>
              <a:rPr sz="1150" b="0">
                <a:solidFill>
                  <a:srgbClr val="E2E8F0"/>
                </a:solidFill>
                <a:latin typeface="Calibri"/>
              </a:rPr>
              <a:t>  &lt; 50: Could take more ownership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10972800" cy="640080"/>
          </a:xfrm>
          <a:prstGeom prst="rect">
            <a:avLst/>
          </a:prstGeom>
          <a:noFill/>
        </p:spPr>
        <p:txBody>
          <a:bodyPr wrap="square">
            <a:spAutoFit/>
          </a:bodyPr>
          <a:lstStyle/>
          <a:p>
            <a:pPr algn="l"/>
            <a:r>
              <a:rPr sz="2800" b="1">
                <a:solidFill>
                  <a:srgbClr val="6D28D9"/>
                </a:solidFill>
                <a:latin typeface="Calibri"/>
              </a:rPr>
              <a:t>CPIS Final Score Assembly</a:t>
            </a:r>
          </a:p>
        </p:txBody>
      </p:sp>
      <p:sp>
        <p:nvSpPr>
          <p:cNvPr id="3" name="Rectangle 2"/>
          <p:cNvSpPr/>
          <p:nvPr/>
        </p:nvSpPr>
        <p:spPr>
          <a:xfrm>
            <a:off x="457200" y="1097280"/>
            <a:ext cx="5486400" cy="59436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15568"/>
            <a:ext cx="731520" cy="274320"/>
          </a:xfrm>
          <a:prstGeom prst="rect">
            <a:avLst/>
          </a:prstGeom>
          <a:noFill/>
        </p:spPr>
        <p:txBody>
          <a:bodyPr wrap="square">
            <a:spAutoFit/>
          </a:bodyPr>
          <a:lstStyle/>
          <a:p>
            <a:pPr algn="l"/>
            <a:r>
              <a:rPr sz="1100" b="1">
                <a:solidFill>
                  <a:srgbClr val="14B8A6"/>
                </a:solidFill>
                <a:latin typeface="Calibri"/>
              </a:rPr>
              <a:t>Step 1</a:t>
            </a:r>
          </a:p>
        </p:txBody>
      </p:sp>
      <p:sp>
        <p:nvSpPr>
          <p:cNvPr id="5" name="TextBox 4"/>
          <p:cNvSpPr txBox="1"/>
          <p:nvPr/>
        </p:nvSpPr>
        <p:spPr>
          <a:xfrm>
            <a:off x="1371600" y="1115568"/>
            <a:ext cx="1828800" cy="274320"/>
          </a:xfrm>
          <a:prstGeom prst="rect">
            <a:avLst/>
          </a:prstGeom>
          <a:noFill/>
        </p:spPr>
        <p:txBody>
          <a:bodyPr wrap="square">
            <a:spAutoFit/>
          </a:bodyPr>
          <a:lstStyle/>
          <a:p>
            <a:pPr algn="l"/>
            <a:r>
              <a:rPr sz="1200" b="1">
                <a:solidFill>
                  <a:srgbClr val="FFFFFF"/>
                </a:solidFill>
                <a:latin typeface="Calibri"/>
              </a:rPr>
              <a:t>Compute 8 Dimensions</a:t>
            </a:r>
          </a:p>
        </p:txBody>
      </p:sp>
      <p:sp>
        <p:nvSpPr>
          <p:cNvPr id="6" name="TextBox 5"/>
          <p:cNvSpPr txBox="1"/>
          <p:nvPr/>
        </p:nvSpPr>
        <p:spPr>
          <a:xfrm>
            <a:off x="548640" y="1371600"/>
            <a:ext cx="5303520" cy="274320"/>
          </a:xfrm>
          <a:prstGeom prst="rect">
            <a:avLst/>
          </a:prstGeom>
          <a:noFill/>
        </p:spPr>
        <p:txBody>
          <a:bodyPr wrap="square">
            <a:spAutoFit/>
          </a:bodyPr>
          <a:lstStyle/>
          <a:p>
            <a:pPr algn="l"/>
            <a:r>
              <a:rPr sz="1000" b="0">
                <a:solidFill>
                  <a:srgbClr val="E2E8F0"/>
                </a:solidFill>
                <a:latin typeface="Calibri"/>
              </a:rPr>
              <a:t>Calculate GAI, RQS, FSI, CIS, CRI, GTS, EQS, III using formulas on previous slides</a:t>
            </a:r>
          </a:p>
        </p:txBody>
      </p:sp>
      <p:sp>
        <p:nvSpPr>
          <p:cNvPr id="7" name="Rectangle 6"/>
          <p:cNvSpPr/>
          <p:nvPr/>
        </p:nvSpPr>
        <p:spPr>
          <a:xfrm>
            <a:off x="457200" y="1783080"/>
            <a:ext cx="5486400" cy="59436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01368"/>
            <a:ext cx="731520" cy="274320"/>
          </a:xfrm>
          <a:prstGeom prst="rect">
            <a:avLst/>
          </a:prstGeom>
          <a:noFill/>
        </p:spPr>
        <p:txBody>
          <a:bodyPr wrap="square">
            <a:spAutoFit/>
          </a:bodyPr>
          <a:lstStyle/>
          <a:p>
            <a:pPr algn="l"/>
            <a:r>
              <a:rPr sz="1100" b="1">
                <a:solidFill>
                  <a:srgbClr val="F59E0B"/>
                </a:solidFill>
                <a:latin typeface="Calibri"/>
              </a:rPr>
              <a:t>Step 2</a:t>
            </a:r>
          </a:p>
        </p:txBody>
      </p:sp>
      <p:sp>
        <p:nvSpPr>
          <p:cNvPr id="9" name="TextBox 8"/>
          <p:cNvSpPr txBox="1"/>
          <p:nvPr/>
        </p:nvSpPr>
        <p:spPr>
          <a:xfrm>
            <a:off x="1371600" y="1801368"/>
            <a:ext cx="1828800" cy="274320"/>
          </a:xfrm>
          <a:prstGeom prst="rect">
            <a:avLst/>
          </a:prstGeom>
          <a:noFill/>
        </p:spPr>
        <p:txBody>
          <a:bodyPr wrap="square">
            <a:spAutoFit/>
          </a:bodyPr>
          <a:lstStyle/>
          <a:p>
            <a:pPr algn="l"/>
            <a:r>
              <a:rPr sz="1200" b="1">
                <a:solidFill>
                  <a:srgbClr val="FFFFFF"/>
                </a:solidFill>
                <a:latin typeface="Calibri"/>
              </a:rPr>
              <a:t>Dynamic Re-weighting</a:t>
            </a:r>
          </a:p>
        </p:txBody>
      </p:sp>
      <p:sp>
        <p:nvSpPr>
          <p:cNvPr id="10" name="TextBox 9"/>
          <p:cNvSpPr txBox="1"/>
          <p:nvPr/>
        </p:nvSpPr>
        <p:spPr>
          <a:xfrm>
            <a:off x="548640" y="2057400"/>
            <a:ext cx="5303520" cy="274320"/>
          </a:xfrm>
          <a:prstGeom prst="rect">
            <a:avLst/>
          </a:prstGeom>
          <a:noFill/>
        </p:spPr>
        <p:txBody>
          <a:bodyPr wrap="square">
            <a:spAutoFit/>
          </a:bodyPr>
          <a:lstStyle/>
          <a:p>
            <a:pPr algn="l"/>
            <a:r>
              <a:rPr sz="1000" b="0">
                <a:solidFill>
                  <a:srgbClr val="E2E8F0"/>
                </a:solidFill>
                <a:latin typeface="Calibri"/>
              </a:rPr>
              <a:t>If a dimension has no data, exclude it and redistribute its weight proportionally to active dimensions</a:t>
            </a:r>
          </a:p>
        </p:txBody>
      </p:sp>
      <p:sp>
        <p:nvSpPr>
          <p:cNvPr id="11" name="Rectangle 10"/>
          <p:cNvSpPr/>
          <p:nvPr/>
        </p:nvSpPr>
        <p:spPr>
          <a:xfrm>
            <a:off x="457200" y="2468880"/>
            <a:ext cx="5486400" cy="59436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487168"/>
            <a:ext cx="731520" cy="274320"/>
          </a:xfrm>
          <a:prstGeom prst="rect">
            <a:avLst/>
          </a:prstGeom>
          <a:noFill/>
        </p:spPr>
        <p:txBody>
          <a:bodyPr wrap="square">
            <a:spAutoFit/>
          </a:bodyPr>
          <a:lstStyle/>
          <a:p>
            <a:pPr algn="l"/>
            <a:r>
              <a:rPr sz="1100" b="1">
                <a:solidFill>
                  <a:srgbClr val="22C55E"/>
                </a:solidFill>
                <a:latin typeface="Calibri"/>
              </a:rPr>
              <a:t>Step 3</a:t>
            </a:r>
          </a:p>
        </p:txBody>
      </p:sp>
      <p:sp>
        <p:nvSpPr>
          <p:cNvPr id="13" name="TextBox 12"/>
          <p:cNvSpPr txBox="1"/>
          <p:nvPr/>
        </p:nvSpPr>
        <p:spPr>
          <a:xfrm>
            <a:off x="1371600" y="2487168"/>
            <a:ext cx="1828800" cy="274320"/>
          </a:xfrm>
          <a:prstGeom prst="rect">
            <a:avLst/>
          </a:prstGeom>
          <a:noFill/>
        </p:spPr>
        <p:txBody>
          <a:bodyPr wrap="square">
            <a:spAutoFit/>
          </a:bodyPr>
          <a:lstStyle/>
          <a:p>
            <a:pPr algn="l"/>
            <a:r>
              <a:rPr sz="1200" b="1">
                <a:solidFill>
                  <a:srgbClr val="FFFFFF"/>
                </a:solidFill>
                <a:latin typeface="Calibri"/>
              </a:rPr>
              <a:t>Tenure Factor</a:t>
            </a:r>
          </a:p>
        </p:txBody>
      </p:sp>
      <p:sp>
        <p:nvSpPr>
          <p:cNvPr id="14" name="TextBox 13"/>
          <p:cNvSpPr txBox="1"/>
          <p:nvPr/>
        </p:nvSpPr>
        <p:spPr>
          <a:xfrm>
            <a:off x="548640" y="2743200"/>
            <a:ext cx="5303520" cy="274320"/>
          </a:xfrm>
          <a:prstGeom prst="rect">
            <a:avLst/>
          </a:prstGeom>
          <a:noFill/>
        </p:spPr>
        <p:txBody>
          <a:bodyPr wrap="square">
            <a:spAutoFit/>
          </a:bodyPr>
          <a:lstStyle/>
          <a:p>
            <a:pPr algn="l"/>
            <a:r>
              <a:rPr sz="1000" b="0">
                <a:solidFill>
                  <a:srgbClr val="E2E8F0"/>
                </a:solidFill>
                <a:latin typeface="Calibri"/>
              </a:rPr>
              <a:t>TenureFactor = min(1.12, 1 + years * 0.025) — up to 12% bonus at 4.8 years</a:t>
            </a:r>
          </a:p>
        </p:txBody>
      </p:sp>
      <p:sp>
        <p:nvSpPr>
          <p:cNvPr id="15" name="Rectangle 14"/>
          <p:cNvSpPr/>
          <p:nvPr/>
        </p:nvSpPr>
        <p:spPr>
          <a:xfrm>
            <a:off x="457200" y="3154680"/>
            <a:ext cx="5486400" cy="59436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172968"/>
            <a:ext cx="731520" cy="274320"/>
          </a:xfrm>
          <a:prstGeom prst="rect">
            <a:avLst/>
          </a:prstGeom>
          <a:noFill/>
        </p:spPr>
        <p:txBody>
          <a:bodyPr wrap="square">
            <a:spAutoFit/>
          </a:bodyPr>
          <a:lstStyle/>
          <a:p>
            <a:pPr algn="l"/>
            <a:r>
              <a:rPr sz="1100" b="1">
                <a:solidFill>
                  <a:srgbClr val="FFFFFF"/>
                </a:solidFill>
                <a:latin typeface="Calibri"/>
              </a:rPr>
              <a:t>Step 4</a:t>
            </a:r>
          </a:p>
        </p:txBody>
      </p:sp>
      <p:sp>
        <p:nvSpPr>
          <p:cNvPr id="17" name="TextBox 16"/>
          <p:cNvSpPr txBox="1"/>
          <p:nvPr/>
        </p:nvSpPr>
        <p:spPr>
          <a:xfrm>
            <a:off x="1371600" y="3172968"/>
            <a:ext cx="1828800" cy="274320"/>
          </a:xfrm>
          <a:prstGeom prst="rect">
            <a:avLst/>
          </a:prstGeom>
          <a:noFill/>
        </p:spPr>
        <p:txBody>
          <a:bodyPr wrap="square">
            <a:spAutoFit/>
          </a:bodyPr>
          <a:lstStyle/>
          <a:p>
            <a:pPr algn="l"/>
            <a:r>
              <a:rPr sz="1200" b="1">
                <a:solidFill>
                  <a:srgbClr val="FFFFFF"/>
                </a:solidFill>
                <a:latin typeface="Calibri"/>
              </a:rPr>
              <a:t>Raw Score</a:t>
            </a:r>
          </a:p>
        </p:txBody>
      </p:sp>
      <p:sp>
        <p:nvSpPr>
          <p:cNvPr id="18" name="TextBox 17"/>
          <p:cNvSpPr txBox="1"/>
          <p:nvPr/>
        </p:nvSpPr>
        <p:spPr>
          <a:xfrm>
            <a:off x="548640" y="3429000"/>
            <a:ext cx="5303520" cy="274320"/>
          </a:xfrm>
          <a:prstGeom prst="rect">
            <a:avLst/>
          </a:prstGeom>
          <a:noFill/>
        </p:spPr>
        <p:txBody>
          <a:bodyPr wrap="square">
            <a:spAutoFit/>
          </a:bodyPr>
          <a:lstStyle/>
          <a:p>
            <a:pPr algn="l"/>
            <a:r>
              <a:rPr sz="1000" b="0">
                <a:solidFill>
                  <a:srgbClr val="E2E8F0"/>
                </a:solidFill>
                <a:latin typeface="Calibri"/>
              </a:rPr>
              <a:t>RawScore = min(100, Sum(dim_i * weight_i)) * TenureFactor</a:t>
            </a:r>
          </a:p>
        </p:txBody>
      </p:sp>
      <p:sp>
        <p:nvSpPr>
          <p:cNvPr id="19" name="Rectangle 18"/>
          <p:cNvSpPr/>
          <p:nvPr/>
        </p:nvSpPr>
        <p:spPr>
          <a:xfrm>
            <a:off x="457200" y="3840480"/>
            <a:ext cx="5486400" cy="59436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858768"/>
            <a:ext cx="731520" cy="274320"/>
          </a:xfrm>
          <a:prstGeom prst="rect">
            <a:avLst/>
          </a:prstGeom>
          <a:noFill/>
        </p:spPr>
        <p:txBody>
          <a:bodyPr wrap="square">
            <a:spAutoFit/>
          </a:bodyPr>
          <a:lstStyle/>
          <a:p>
            <a:pPr algn="l"/>
            <a:r>
              <a:rPr sz="1100" b="1">
                <a:solidFill>
                  <a:srgbClr val="F59E0B"/>
                </a:solidFill>
                <a:latin typeface="Calibri"/>
              </a:rPr>
              <a:t>Step 5</a:t>
            </a:r>
          </a:p>
        </p:txBody>
      </p:sp>
      <p:sp>
        <p:nvSpPr>
          <p:cNvPr id="21" name="TextBox 20"/>
          <p:cNvSpPr txBox="1"/>
          <p:nvPr/>
        </p:nvSpPr>
        <p:spPr>
          <a:xfrm>
            <a:off x="1371600" y="3858768"/>
            <a:ext cx="1828800" cy="274320"/>
          </a:xfrm>
          <a:prstGeom prst="rect">
            <a:avLst/>
          </a:prstGeom>
          <a:noFill/>
        </p:spPr>
        <p:txBody>
          <a:bodyPr wrap="square">
            <a:spAutoFit/>
          </a:bodyPr>
          <a:lstStyle/>
          <a:p>
            <a:pPr algn="l"/>
            <a:r>
              <a:rPr sz="1200" b="1">
                <a:solidFill>
                  <a:srgbClr val="FFFFFF"/>
                </a:solidFill>
                <a:latin typeface="Calibri"/>
              </a:rPr>
              <a:t>Fairness Adjustment</a:t>
            </a:r>
          </a:p>
        </p:txBody>
      </p:sp>
      <p:sp>
        <p:nvSpPr>
          <p:cNvPr id="22" name="TextBox 21"/>
          <p:cNvSpPr txBox="1"/>
          <p:nvPr/>
        </p:nvSpPr>
        <p:spPr>
          <a:xfrm>
            <a:off x="548640" y="4114800"/>
            <a:ext cx="5303520" cy="274320"/>
          </a:xfrm>
          <a:prstGeom prst="rect">
            <a:avLst/>
          </a:prstGeom>
          <a:noFill/>
        </p:spPr>
        <p:txBody>
          <a:bodyPr wrap="square">
            <a:spAutoFit/>
          </a:bodyPr>
          <a:lstStyle/>
          <a:p>
            <a:pPr algn="l"/>
            <a:r>
              <a:rPr sz="1000" b="0">
                <a:solidFill>
                  <a:srgbClr val="E2E8F0"/>
                </a:solidFill>
                <a:latin typeface="Calibri"/>
              </a:rPr>
              <a:t>Bayesian shrinkage for sparse data + disparate impact check + bias flag review</a:t>
            </a:r>
          </a:p>
        </p:txBody>
      </p:sp>
      <p:sp>
        <p:nvSpPr>
          <p:cNvPr id="23" name="Rectangle 22"/>
          <p:cNvSpPr/>
          <p:nvPr/>
        </p:nvSpPr>
        <p:spPr>
          <a:xfrm>
            <a:off x="457200" y="4526280"/>
            <a:ext cx="5486400" cy="594360"/>
          </a:xfrm>
          <a:prstGeom prst="rect">
            <a:avLst/>
          </a:prstGeom>
          <a:solidFill>
            <a:srgbClr val="33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544568"/>
            <a:ext cx="731520" cy="274320"/>
          </a:xfrm>
          <a:prstGeom prst="rect">
            <a:avLst/>
          </a:prstGeom>
          <a:noFill/>
        </p:spPr>
        <p:txBody>
          <a:bodyPr wrap="square">
            <a:spAutoFit/>
          </a:bodyPr>
          <a:lstStyle/>
          <a:p>
            <a:pPr algn="l"/>
            <a:r>
              <a:rPr sz="1100" b="1">
                <a:solidFill>
                  <a:srgbClr val="22C55E"/>
                </a:solidFill>
                <a:latin typeface="Calibri"/>
              </a:rPr>
              <a:t>Step 6</a:t>
            </a:r>
          </a:p>
        </p:txBody>
      </p:sp>
      <p:sp>
        <p:nvSpPr>
          <p:cNvPr id="25" name="TextBox 24"/>
          <p:cNvSpPr txBox="1"/>
          <p:nvPr/>
        </p:nvSpPr>
        <p:spPr>
          <a:xfrm>
            <a:off x="1371600" y="4544568"/>
            <a:ext cx="1828800" cy="274320"/>
          </a:xfrm>
          <a:prstGeom prst="rect">
            <a:avLst/>
          </a:prstGeom>
          <a:noFill/>
        </p:spPr>
        <p:txBody>
          <a:bodyPr wrap="square">
            <a:spAutoFit/>
          </a:bodyPr>
          <a:lstStyle/>
          <a:p>
            <a:pPr algn="l"/>
            <a:r>
              <a:rPr sz="1200" b="1">
                <a:solidFill>
                  <a:srgbClr val="FFFFFF"/>
                </a:solidFill>
                <a:latin typeface="Calibri"/>
              </a:rPr>
              <a:t>Final Score</a:t>
            </a:r>
          </a:p>
        </p:txBody>
      </p:sp>
      <p:sp>
        <p:nvSpPr>
          <p:cNvPr id="26" name="TextBox 25"/>
          <p:cNvSpPr txBox="1"/>
          <p:nvPr/>
        </p:nvSpPr>
        <p:spPr>
          <a:xfrm>
            <a:off x="548640" y="4800600"/>
            <a:ext cx="5303520" cy="274320"/>
          </a:xfrm>
          <a:prstGeom prst="rect">
            <a:avLst/>
          </a:prstGeom>
          <a:noFill/>
        </p:spPr>
        <p:txBody>
          <a:bodyPr wrap="square">
            <a:spAutoFit/>
          </a:bodyPr>
          <a:lstStyle/>
          <a:p>
            <a:pPr algn="l"/>
            <a:r>
              <a:rPr sz="1000" b="0">
                <a:solidFill>
                  <a:srgbClr val="E2E8F0"/>
                </a:solidFill>
                <a:latin typeface="Calibri"/>
              </a:rPr>
              <a:t>FinalScore = clamp(RawScore + FairnessAdj, 0, 100)</a:t>
            </a:r>
          </a:p>
        </p:txBody>
      </p:sp>
      <p:sp>
        <p:nvSpPr>
          <p:cNvPr id="27" name="Rectangle 26"/>
          <p:cNvSpPr/>
          <p:nvPr/>
        </p:nvSpPr>
        <p:spPr>
          <a:xfrm>
            <a:off x="6400800" y="1097280"/>
            <a:ext cx="5303520" cy="5029200"/>
          </a:xfrm>
          <a:prstGeom prst="rect">
            <a:avLst/>
          </a:prstGeom>
          <a:solidFill>
            <a:srgbClr val="334055"/>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1188720"/>
            <a:ext cx="4937760" cy="365760"/>
          </a:xfrm>
          <a:prstGeom prst="rect">
            <a:avLst/>
          </a:prstGeom>
          <a:noFill/>
        </p:spPr>
        <p:txBody>
          <a:bodyPr wrap="square">
            <a:spAutoFit/>
          </a:bodyPr>
          <a:lstStyle/>
          <a:p>
            <a:pPr algn="l"/>
            <a:r>
              <a:rPr sz="1600" b="1">
                <a:solidFill>
                  <a:srgbClr val="6D28D9"/>
                </a:solidFill>
                <a:latin typeface="Calibri"/>
              </a:rPr>
              <a:t>FINAL OUTPUT</a:t>
            </a:r>
          </a:p>
        </p:txBody>
      </p:sp>
      <p:sp>
        <p:nvSpPr>
          <p:cNvPr id="29" name="TextBox 28"/>
          <p:cNvSpPr txBox="1"/>
          <p:nvPr/>
        </p:nvSpPr>
        <p:spPr>
          <a:xfrm>
            <a:off x="6675120" y="1645920"/>
            <a:ext cx="1371600" cy="274320"/>
          </a:xfrm>
          <a:prstGeom prst="rect">
            <a:avLst/>
          </a:prstGeom>
          <a:noFill/>
        </p:spPr>
        <p:txBody>
          <a:bodyPr wrap="square">
            <a:spAutoFit/>
          </a:bodyPr>
          <a:lstStyle/>
          <a:p>
            <a:pPr algn="l"/>
            <a:r>
              <a:rPr sz="1300" b="1">
                <a:solidFill>
                  <a:srgbClr val="14B8A6"/>
                </a:solidFill>
                <a:latin typeface="Calibri"/>
              </a:rPr>
              <a:t>Score</a:t>
            </a:r>
          </a:p>
        </p:txBody>
      </p:sp>
      <p:sp>
        <p:nvSpPr>
          <p:cNvPr id="30" name="TextBox 29"/>
          <p:cNvSpPr txBox="1"/>
          <p:nvPr/>
        </p:nvSpPr>
        <p:spPr>
          <a:xfrm>
            <a:off x="8046720" y="1645920"/>
            <a:ext cx="3474720" cy="548640"/>
          </a:xfrm>
          <a:prstGeom prst="rect">
            <a:avLst/>
          </a:prstGeom>
          <a:noFill/>
        </p:spPr>
        <p:txBody>
          <a:bodyPr wrap="square">
            <a:spAutoFit/>
          </a:bodyPr>
          <a:lstStyle/>
          <a:p>
            <a:pPr algn="l"/>
            <a:r>
              <a:rPr sz="1050" b="0">
                <a:solidFill>
                  <a:srgbClr val="E2E8F0"/>
                </a:solidFill>
                <a:latin typeface="Calibri"/>
              </a:rPr>
              <a:t>0-100 (e.g., 78.5)</a:t>
            </a:r>
          </a:p>
        </p:txBody>
      </p:sp>
      <p:sp>
        <p:nvSpPr>
          <p:cNvPr id="31" name="TextBox 30"/>
          <p:cNvSpPr txBox="1"/>
          <p:nvPr/>
        </p:nvSpPr>
        <p:spPr>
          <a:xfrm>
            <a:off x="6675120" y="2286000"/>
            <a:ext cx="1371600" cy="274320"/>
          </a:xfrm>
          <a:prstGeom prst="rect">
            <a:avLst/>
          </a:prstGeom>
          <a:noFill/>
        </p:spPr>
        <p:txBody>
          <a:bodyPr wrap="square">
            <a:spAutoFit/>
          </a:bodyPr>
          <a:lstStyle/>
          <a:p>
            <a:pPr algn="l"/>
            <a:r>
              <a:rPr sz="1300" b="1">
                <a:solidFill>
                  <a:srgbClr val="14B8A6"/>
                </a:solidFill>
                <a:latin typeface="Calibri"/>
              </a:rPr>
              <a:t>Grade</a:t>
            </a:r>
          </a:p>
        </p:txBody>
      </p:sp>
      <p:sp>
        <p:nvSpPr>
          <p:cNvPr id="32" name="TextBox 31"/>
          <p:cNvSpPr txBox="1"/>
          <p:nvPr/>
        </p:nvSpPr>
        <p:spPr>
          <a:xfrm>
            <a:off x="8046720" y="2286000"/>
            <a:ext cx="3474720" cy="548640"/>
          </a:xfrm>
          <a:prstGeom prst="rect">
            <a:avLst/>
          </a:prstGeom>
          <a:noFill/>
        </p:spPr>
        <p:txBody>
          <a:bodyPr wrap="square">
            <a:spAutoFit/>
          </a:bodyPr>
          <a:lstStyle/>
          <a:p>
            <a:pPr algn="l"/>
            <a:r>
              <a:rPr sz="1050" b="0">
                <a:solidFill>
                  <a:srgbClr val="E2E8F0"/>
                </a:solidFill>
                <a:latin typeface="Calibri"/>
              </a:rPr>
              <a:t>A+=95+, A=85+, B+=78+, B=70+, C+=62+, C=50+, D=35+, F=&lt;35</a:t>
            </a:r>
          </a:p>
        </p:txBody>
      </p:sp>
      <p:sp>
        <p:nvSpPr>
          <p:cNvPr id="33" name="TextBox 32"/>
          <p:cNvSpPr txBox="1"/>
          <p:nvPr/>
        </p:nvSpPr>
        <p:spPr>
          <a:xfrm>
            <a:off x="6675120" y="2926080"/>
            <a:ext cx="1371600" cy="274320"/>
          </a:xfrm>
          <a:prstGeom prst="rect">
            <a:avLst/>
          </a:prstGeom>
          <a:noFill/>
        </p:spPr>
        <p:txBody>
          <a:bodyPr wrap="square">
            <a:spAutoFit/>
          </a:bodyPr>
          <a:lstStyle/>
          <a:p>
            <a:pPr algn="l"/>
            <a:r>
              <a:rPr sz="1300" b="1">
                <a:solidFill>
                  <a:srgbClr val="14B8A6"/>
                </a:solidFill>
                <a:latin typeface="Calibri"/>
              </a:rPr>
              <a:t>Stars</a:t>
            </a:r>
          </a:p>
        </p:txBody>
      </p:sp>
      <p:sp>
        <p:nvSpPr>
          <p:cNvPr id="34" name="TextBox 33"/>
          <p:cNvSpPr txBox="1"/>
          <p:nvPr/>
        </p:nvSpPr>
        <p:spPr>
          <a:xfrm>
            <a:off x="8046720" y="2926080"/>
            <a:ext cx="3474720" cy="548640"/>
          </a:xfrm>
          <a:prstGeom prst="rect">
            <a:avLst/>
          </a:prstGeom>
          <a:noFill/>
        </p:spPr>
        <p:txBody>
          <a:bodyPr wrap="square">
            <a:spAutoFit/>
          </a:bodyPr>
          <a:lstStyle/>
          <a:p>
            <a:pPr algn="l"/>
            <a:r>
              <a:rPr sz="1050" b="0">
                <a:solidFill>
                  <a:srgbClr val="E2E8F0"/>
                </a:solidFill>
                <a:latin typeface="Calibri"/>
              </a:rPr>
              <a:t>5=90+, 4=75+, 3=55+, 2=35+, 1=&lt;35</a:t>
            </a:r>
          </a:p>
        </p:txBody>
      </p:sp>
      <p:sp>
        <p:nvSpPr>
          <p:cNvPr id="35" name="TextBox 34"/>
          <p:cNvSpPr txBox="1"/>
          <p:nvPr/>
        </p:nvSpPr>
        <p:spPr>
          <a:xfrm>
            <a:off x="6675120" y="3566159"/>
            <a:ext cx="1371600" cy="274320"/>
          </a:xfrm>
          <a:prstGeom prst="rect">
            <a:avLst/>
          </a:prstGeom>
          <a:noFill/>
        </p:spPr>
        <p:txBody>
          <a:bodyPr wrap="square">
            <a:spAutoFit/>
          </a:bodyPr>
          <a:lstStyle/>
          <a:p>
            <a:pPr algn="l"/>
            <a:r>
              <a:rPr sz="1300" b="1">
                <a:solidFill>
                  <a:srgbClr val="14B8A6"/>
                </a:solidFill>
                <a:latin typeface="Calibri"/>
              </a:rPr>
              <a:t>Rank</a:t>
            </a:r>
          </a:p>
        </p:txBody>
      </p:sp>
      <p:sp>
        <p:nvSpPr>
          <p:cNvPr id="36" name="TextBox 35"/>
          <p:cNvSpPr txBox="1"/>
          <p:nvPr/>
        </p:nvSpPr>
        <p:spPr>
          <a:xfrm>
            <a:off x="8046720" y="3566159"/>
            <a:ext cx="3474720" cy="548640"/>
          </a:xfrm>
          <a:prstGeom prst="rect">
            <a:avLst/>
          </a:prstGeom>
          <a:noFill/>
        </p:spPr>
        <p:txBody>
          <a:bodyPr wrap="square">
            <a:spAutoFit/>
          </a:bodyPr>
          <a:lstStyle/>
          <a:p>
            <a:pPr algn="l"/>
            <a:r>
              <a:rPr sz="1050" b="0">
                <a:solidFill>
                  <a:srgbClr val="E2E8F0"/>
                </a:solidFill>
                <a:latin typeface="Calibri"/>
              </a:rPr>
              <a:t>Exceptional(95+), Elite(85+), High Achiever(75+), Strong(65+), Solid(55+), Developing(45+), Emerging(35+), Needs Support(&lt;35)</a:t>
            </a:r>
          </a:p>
        </p:txBody>
      </p:sp>
      <p:sp>
        <p:nvSpPr>
          <p:cNvPr id="37" name="TextBox 36"/>
          <p:cNvSpPr txBox="1"/>
          <p:nvPr/>
        </p:nvSpPr>
        <p:spPr>
          <a:xfrm>
            <a:off x="6675120" y="4206240"/>
            <a:ext cx="1371600" cy="274320"/>
          </a:xfrm>
          <a:prstGeom prst="rect">
            <a:avLst/>
          </a:prstGeom>
          <a:noFill/>
        </p:spPr>
        <p:txBody>
          <a:bodyPr wrap="square">
            <a:spAutoFit/>
          </a:bodyPr>
          <a:lstStyle/>
          <a:p>
            <a:pPr algn="l"/>
            <a:r>
              <a:rPr sz="1300" b="1">
                <a:solidFill>
                  <a:srgbClr val="14B8A6"/>
                </a:solidFill>
                <a:latin typeface="Calibri"/>
              </a:rPr>
              <a:t>Confidence</a:t>
            </a:r>
          </a:p>
        </p:txBody>
      </p:sp>
      <p:sp>
        <p:nvSpPr>
          <p:cNvPr id="38" name="TextBox 37"/>
          <p:cNvSpPr txBox="1"/>
          <p:nvPr/>
        </p:nvSpPr>
        <p:spPr>
          <a:xfrm>
            <a:off x="8046720" y="4206240"/>
            <a:ext cx="3474720" cy="548640"/>
          </a:xfrm>
          <a:prstGeom prst="rect">
            <a:avLst/>
          </a:prstGeom>
          <a:noFill/>
        </p:spPr>
        <p:txBody>
          <a:bodyPr wrap="square">
            <a:spAutoFit/>
          </a:bodyPr>
          <a:lstStyle/>
          <a:p>
            <a:pPr algn="l"/>
            <a:r>
              <a:rPr sz="1050" b="0">
                <a:solidFill>
                  <a:srgbClr val="E2E8F0"/>
                </a:solidFill>
                <a:latin typeface="Calibri"/>
              </a:rPr>
              <a:t>Margin = max(2, 15*(1-confidence)) — narrow when data-rich, wide when sparse</a:t>
            </a:r>
          </a:p>
        </p:txBody>
      </p:sp>
      <p:sp>
        <p:nvSpPr>
          <p:cNvPr id="39" name="TextBox 38"/>
          <p:cNvSpPr txBox="1"/>
          <p:nvPr/>
        </p:nvSpPr>
        <p:spPr>
          <a:xfrm>
            <a:off x="6675120" y="4846320"/>
            <a:ext cx="1371600" cy="274320"/>
          </a:xfrm>
          <a:prstGeom prst="rect">
            <a:avLst/>
          </a:prstGeom>
          <a:noFill/>
        </p:spPr>
        <p:txBody>
          <a:bodyPr wrap="square">
            <a:spAutoFit/>
          </a:bodyPr>
          <a:lstStyle/>
          <a:p>
            <a:pPr algn="l"/>
            <a:r>
              <a:rPr sz="1300" b="1">
                <a:solidFill>
                  <a:srgbClr val="14B8A6"/>
                </a:solidFill>
                <a:latin typeface="Calibri"/>
              </a:rPr>
              <a:t>Growth</a:t>
            </a:r>
          </a:p>
        </p:txBody>
      </p:sp>
      <p:sp>
        <p:nvSpPr>
          <p:cNvPr id="40" name="TextBox 39"/>
          <p:cNvSpPr txBox="1"/>
          <p:nvPr/>
        </p:nvSpPr>
        <p:spPr>
          <a:xfrm>
            <a:off x="8046720" y="4846320"/>
            <a:ext cx="3474720" cy="548640"/>
          </a:xfrm>
          <a:prstGeom prst="rect">
            <a:avLst/>
          </a:prstGeom>
          <a:noFill/>
        </p:spPr>
        <p:txBody>
          <a:bodyPr wrap="square">
            <a:spAutoFit/>
          </a:bodyPr>
          <a:lstStyle/>
          <a:p>
            <a:pPr algn="l"/>
            <a:r>
              <a:rPr sz="1050" b="0">
                <a:solidFill>
                  <a:srgbClr val="E2E8F0"/>
                </a:solidFill>
                <a:latin typeface="Calibri"/>
              </a:rPr>
              <a:t>Improving / Stable / Declining — from linear regression slope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371600" y="1828800"/>
            <a:ext cx="9144000" cy="914400"/>
          </a:xfrm>
          <a:prstGeom prst="rect">
            <a:avLst/>
          </a:prstGeom>
          <a:noFill/>
        </p:spPr>
        <p:txBody>
          <a:bodyPr wrap="square">
            <a:spAutoFit/>
          </a:bodyPr>
          <a:lstStyle/>
          <a:p>
            <a:pPr algn="ctr"/>
            <a:r>
              <a:rPr sz="3200" b="1">
                <a:solidFill>
                  <a:srgbClr val="FFFFFF"/>
                </a:solidFill>
                <a:latin typeface="Calibri"/>
              </a:rPr>
              <a:t>Every Number is Mathematically Derived</a:t>
            </a:r>
          </a:p>
        </p:txBody>
      </p:sp>
      <p:sp>
        <p:nvSpPr>
          <p:cNvPr id="3" name="TextBox 2"/>
          <p:cNvSpPr txBox="1"/>
          <p:nvPr/>
        </p:nvSpPr>
        <p:spPr>
          <a:xfrm>
            <a:off x="1371600" y="3017520"/>
            <a:ext cx="9144000" cy="548640"/>
          </a:xfrm>
          <a:prstGeom prst="rect">
            <a:avLst/>
          </a:prstGeom>
          <a:noFill/>
        </p:spPr>
        <p:txBody>
          <a:bodyPr wrap="square">
            <a:spAutoFit/>
          </a:bodyPr>
          <a:lstStyle/>
          <a:p>
            <a:pPr algn="ctr"/>
            <a:r>
              <a:rPr sz="2000" b="0">
                <a:solidFill>
                  <a:srgbClr val="14B8A6"/>
                </a:solidFill>
                <a:latin typeface="Calibri"/>
              </a:rPr>
              <a:t>Zero Guesswork  |  Zero Hardcoded Values  |  Fully Auditable</a:t>
            </a:r>
          </a:p>
        </p:txBody>
      </p:sp>
      <p:sp>
        <p:nvSpPr>
          <p:cNvPr id="4" name="TextBox 3"/>
          <p:cNvSpPr txBox="1"/>
          <p:nvPr/>
        </p:nvSpPr>
        <p:spPr>
          <a:xfrm>
            <a:off x="1371600" y="4114800"/>
            <a:ext cx="9144000" cy="548640"/>
          </a:xfrm>
          <a:prstGeom prst="rect">
            <a:avLst/>
          </a:prstGeom>
          <a:noFill/>
        </p:spPr>
        <p:txBody>
          <a:bodyPr wrap="square">
            <a:spAutoFit/>
          </a:bodyPr>
          <a:lstStyle/>
          <a:p>
            <a:pPr algn="ctr"/>
            <a:r>
              <a:rPr sz="1800" b="0">
                <a:solidFill>
                  <a:srgbClr val="F59E0B"/>
                </a:solidFill>
                <a:latin typeface="Calibri"/>
              </a:rPr>
              <a:t>17 Core Formulas  +  6 Composite Systems  +  8 CPIS Dimensions</a:t>
            </a:r>
          </a:p>
        </p:txBody>
      </p:sp>
      <p:sp>
        <p:nvSpPr>
          <p:cNvPr id="5" name="TextBox 4"/>
          <p:cNvSpPr txBox="1"/>
          <p:nvPr/>
        </p:nvSpPr>
        <p:spPr>
          <a:xfrm>
            <a:off x="1371600" y="5029200"/>
            <a:ext cx="9144000" cy="548640"/>
          </a:xfrm>
          <a:prstGeom prst="rect">
            <a:avLst/>
          </a:prstGeom>
          <a:noFill/>
        </p:spPr>
        <p:txBody>
          <a:bodyPr wrap="square">
            <a:spAutoFit/>
          </a:bodyPr>
          <a:lstStyle/>
          <a:p>
            <a:pPr algn="ctr"/>
            <a:r>
              <a:rPr sz="1400" b="0">
                <a:solidFill>
                  <a:srgbClr val="94A3B8"/>
                </a:solidFill>
                <a:latin typeface="Calibri"/>
              </a:rPr>
              <a:t>Missing data = neutral (50), not penalizing. Bias detected = flagged. Legally defensible.</a:t>
            </a:r>
          </a:p>
        </p:txBody>
      </p:sp>
      <p:sp>
        <p:nvSpPr>
          <p:cNvPr id="6" name="TextBox 5"/>
          <p:cNvSpPr txBox="1"/>
          <p:nvPr/>
        </p:nvSpPr>
        <p:spPr>
          <a:xfrm>
            <a:off x="1371600" y="5943600"/>
            <a:ext cx="9144000" cy="365760"/>
          </a:xfrm>
          <a:prstGeom prst="rect">
            <a:avLst/>
          </a:prstGeom>
          <a:noFill/>
        </p:spPr>
        <p:txBody>
          <a:bodyPr wrap="square">
            <a:spAutoFit/>
          </a:bodyPr>
          <a:lstStyle/>
          <a:p>
            <a:pPr algn="ctr"/>
            <a:r>
              <a:rPr sz="1200" b="0">
                <a:solidFill>
                  <a:srgbClr val="94A3B8"/>
                </a:solidFill>
                <a:latin typeface="Calibri"/>
              </a:rPr>
              <a:t>PMS Platform  |  Confidential  |  March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